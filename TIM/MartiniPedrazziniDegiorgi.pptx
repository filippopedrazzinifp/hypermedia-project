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9" r:id="rId3"/>
    <p:sldId id="262" r:id="rId4"/>
    <p:sldId id="256" r:id="rId5"/>
    <p:sldId id="257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0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-294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77" d="100"/>
          <a:sy n="177" d="100"/>
        </p:scale>
        <p:origin x="460" y="-2308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70BB3D-FA1F-4816-8FF7-45CB49D69E2B}" type="datetimeFigureOut">
              <a:rPr lang="it-IT" smtClean="0"/>
              <a:pPr/>
              <a:t>30/06/2016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4608A-74B1-4F77-A4EB-5E78C6FC80BB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23729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685800" y="4229100"/>
            <a:ext cx="5486400" cy="3600450"/>
          </a:xfrm>
        </p:spPr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4608A-74B1-4F77-A4EB-5E78C6FC80BB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44512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4608A-74B1-4F77-A4EB-5E78C6FC80BB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450859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B8848-4F96-4B42-A6DC-F5A54C9A7C76}" type="datetimeFigureOut">
              <a:rPr lang="it-IT" smtClean="0"/>
              <a:pPr/>
              <a:t>30/06/2016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4C50-DEFB-483C-ACEE-BCD9DA305C0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62275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B8848-4F96-4B42-A6DC-F5A54C9A7C76}" type="datetimeFigureOut">
              <a:rPr lang="it-IT" smtClean="0"/>
              <a:pPr/>
              <a:t>30/06/2016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4C50-DEFB-483C-ACEE-BCD9DA305C0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180273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B8848-4F96-4B42-A6DC-F5A54C9A7C76}" type="datetimeFigureOut">
              <a:rPr lang="it-IT" smtClean="0"/>
              <a:pPr/>
              <a:t>30/06/2016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4C50-DEFB-483C-ACEE-BCD9DA305C0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193095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B8848-4F96-4B42-A6DC-F5A54C9A7C76}" type="datetimeFigureOut">
              <a:rPr lang="it-IT" smtClean="0"/>
              <a:pPr/>
              <a:t>30/06/2016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4C50-DEFB-483C-ACEE-BCD9DA305C0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1117973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B8848-4F96-4B42-A6DC-F5A54C9A7C76}" type="datetimeFigureOut">
              <a:rPr lang="it-IT" smtClean="0"/>
              <a:pPr/>
              <a:t>30/06/2016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4C50-DEFB-483C-ACEE-BCD9DA305C0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2191152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B8848-4F96-4B42-A6DC-F5A54C9A7C76}" type="datetimeFigureOut">
              <a:rPr lang="it-IT" smtClean="0"/>
              <a:pPr/>
              <a:t>30/06/2016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4C50-DEFB-483C-ACEE-BCD9DA305C0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2224475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B8848-4F96-4B42-A6DC-F5A54C9A7C76}" type="datetimeFigureOut">
              <a:rPr lang="it-IT" smtClean="0"/>
              <a:pPr/>
              <a:t>30/06/2016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4C50-DEFB-483C-ACEE-BCD9DA305C0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14524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B8848-4F96-4B42-A6DC-F5A54C9A7C76}" type="datetimeFigureOut">
              <a:rPr lang="it-IT" smtClean="0"/>
              <a:pPr/>
              <a:t>30/06/2016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4C50-DEFB-483C-ACEE-BCD9DA305C0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912457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B8848-4F96-4B42-A6DC-F5A54C9A7C76}" type="datetimeFigureOut">
              <a:rPr lang="it-IT" smtClean="0"/>
              <a:pPr/>
              <a:t>30/06/2016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4C50-DEFB-483C-ACEE-BCD9DA305C0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235133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B8848-4F96-4B42-A6DC-F5A54C9A7C76}" type="datetimeFigureOut">
              <a:rPr lang="it-IT" smtClean="0"/>
              <a:pPr/>
              <a:t>30/06/2016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4C50-DEFB-483C-ACEE-BCD9DA305C0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175110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B8848-4F96-4B42-A6DC-F5A54C9A7C76}" type="datetimeFigureOut">
              <a:rPr lang="it-IT" smtClean="0"/>
              <a:pPr/>
              <a:t>30/06/2016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4C50-DEFB-483C-ACEE-BCD9DA305C0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45751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B8848-4F96-4B42-A6DC-F5A54C9A7C76}" type="datetimeFigureOut">
              <a:rPr lang="it-IT" smtClean="0"/>
              <a:pPr/>
              <a:t>30/06/2016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34C50-DEFB-483C-ACEE-BCD9DA305C0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49860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ilippo.pedrazzini@mail.polimi.it" TargetMode="External"/><Relationship Id="rId2" Type="http://schemas.openxmlformats.org/officeDocument/2006/relationships/hyperlink" Target="mailto:lorenzo.martini@mail.polimi.i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mailto:marzia.degiorgi@mail.polimi.it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173828" y="300730"/>
            <a:ext cx="4094961" cy="1325563"/>
          </a:xfrm>
        </p:spPr>
        <p:txBody>
          <a:bodyPr>
            <a:noAutofit/>
          </a:bodyPr>
          <a:lstStyle/>
          <a:p>
            <a:r>
              <a:rPr lang="it-IT" sz="5400" b="1" u="sng" dirty="0" smtClean="0">
                <a:solidFill>
                  <a:schemeClr val="accent5">
                    <a:lumMod val="50000"/>
                  </a:schemeClr>
                </a:solidFill>
              </a:rPr>
              <a:t>TIM </a:t>
            </a:r>
            <a:r>
              <a:rPr lang="it-IT" sz="5400" b="1" u="sng" dirty="0">
                <a:solidFill>
                  <a:schemeClr val="accent5">
                    <a:lumMod val="50000"/>
                  </a:schemeClr>
                </a:solidFill>
              </a:rPr>
              <a:t>P</a:t>
            </a:r>
            <a:r>
              <a:rPr lang="it-IT" sz="5400" b="1" u="sng" dirty="0" smtClean="0">
                <a:solidFill>
                  <a:schemeClr val="accent5">
                    <a:lumMod val="50000"/>
                  </a:schemeClr>
                </a:solidFill>
              </a:rPr>
              <a:t>roject</a:t>
            </a:r>
            <a:endParaRPr lang="it-IT" sz="54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Lorenzo Martini </a:t>
            </a:r>
            <a:r>
              <a:rPr lang="it-IT" dirty="0" smtClean="0">
                <a:hlinkClick r:id="rId2"/>
              </a:rPr>
              <a:t>lorenzo.martini@mail.polimi.it</a:t>
            </a:r>
            <a:endParaRPr lang="it-IT" dirty="0" smtClean="0"/>
          </a:p>
          <a:p>
            <a:r>
              <a:rPr lang="it-IT" dirty="0" smtClean="0"/>
              <a:t>Filippo </a:t>
            </a:r>
            <a:r>
              <a:rPr lang="it-IT" dirty="0" err="1" smtClean="0"/>
              <a:t>Pedrazzini</a:t>
            </a:r>
            <a:r>
              <a:rPr lang="it-IT" dirty="0" smtClean="0"/>
              <a:t> </a:t>
            </a:r>
            <a:r>
              <a:rPr lang="it-IT" dirty="0" smtClean="0">
                <a:hlinkClick r:id="rId3"/>
              </a:rPr>
              <a:t>filippo.pedrazzini@mail.polimi.it</a:t>
            </a:r>
            <a:endParaRPr lang="it-IT" dirty="0" smtClean="0"/>
          </a:p>
          <a:p>
            <a:r>
              <a:rPr lang="it-IT" dirty="0" smtClean="0"/>
              <a:t>Marzia </a:t>
            </a:r>
            <a:r>
              <a:rPr lang="it-IT" dirty="0" err="1" smtClean="0"/>
              <a:t>Degiorgi</a:t>
            </a:r>
            <a:r>
              <a:rPr lang="it-IT" dirty="0" smtClean="0"/>
              <a:t> </a:t>
            </a:r>
            <a:r>
              <a:rPr lang="it-IT" dirty="0" smtClean="0">
                <a:hlinkClick r:id="rId4"/>
              </a:rPr>
              <a:t>marzia.degiorgi@mail.polimi.it</a:t>
            </a:r>
            <a:endParaRPr lang="it-IT" dirty="0"/>
          </a:p>
          <a:p>
            <a:r>
              <a:rPr lang="it-IT" dirty="0" smtClean="0">
                <a:solidFill>
                  <a:srgbClr val="FF0000"/>
                </a:solidFill>
              </a:rPr>
              <a:t>Delivery date:</a:t>
            </a:r>
          </a:p>
          <a:p>
            <a:r>
              <a:rPr lang="it-IT" dirty="0" err="1" smtClean="0"/>
              <a:t>This</a:t>
            </a:r>
            <a:r>
              <a:rPr lang="it-IT" dirty="0" smtClean="0"/>
              <a:t> </a:t>
            </a:r>
            <a:r>
              <a:rPr lang="it-IT" dirty="0" err="1" smtClean="0"/>
              <a:t>document</a:t>
            </a:r>
            <a:r>
              <a:rPr lang="it-IT" dirty="0" smtClean="0"/>
              <a:t> is </a:t>
            </a:r>
            <a:r>
              <a:rPr lang="it-IT" dirty="0" err="1" smtClean="0"/>
              <a:t>about</a:t>
            </a:r>
            <a:r>
              <a:rPr lang="it-IT" dirty="0" smtClean="0"/>
              <a:t> the design of </a:t>
            </a:r>
            <a:r>
              <a:rPr lang="it-IT" dirty="0" err="1" smtClean="0"/>
              <a:t>our</a:t>
            </a:r>
            <a:r>
              <a:rPr lang="it-IT" dirty="0" smtClean="0"/>
              <a:t> website. </a:t>
            </a:r>
            <a:r>
              <a:rPr lang="it-IT" dirty="0" err="1" smtClean="0"/>
              <a:t>It</a:t>
            </a:r>
            <a:r>
              <a:rPr lang="it-IT" dirty="0" smtClean="0"/>
              <a:t> is </a:t>
            </a:r>
            <a:r>
              <a:rPr lang="it-IT" dirty="0" err="1" smtClean="0"/>
              <a:t>composed</a:t>
            </a:r>
            <a:r>
              <a:rPr lang="it-IT" dirty="0" smtClean="0"/>
              <a:t> by 3 </a:t>
            </a:r>
            <a:r>
              <a:rPr lang="it-IT" dirty="0" err="1" smtClean="0"/>
              <a:t>schemas</a:t>
            </a:r>
            <a:r>
              <a:rPr lang="it-IT" dirty="0" smtClean="0"/>
              <a:t>: C-IDM, L-IDM AND P-IDM. </a:t>
            </a:r>
            <a:r>
              <a:rPr lang="it-IT" dirty="0" err="1" smtClean="0"/>
              <a:t>We’ve</a:t>
            </a:r>
            <a:r>
              <a:rPr lang="it-IT" dirty="0" smtClean="0"/>
              <a:t> </a:t>
            </a:r>
            <a:r>
              <a:rPr lang="it-IT" dirty="0" err="1" smtClean="0"/>
              <a:t>used</a:t>
            </a:r>
            <a:r>
              <a:rPr lang="it-IT" dirty="0" smtClean="0"/>
              <a:t> </a:t>
            </a:r>
            <a:r>
              <a:rPr lang="it-IT" dirty="0" err="1" smtClean="0"/>
              <a:t>Balsamiq</a:t>
            </a:r>
            <a:r>
              <a:rPr lang="it-IT" dirty="0" smtClean="0"/>
              <a:t> </a:t>
            </a:r>
            <a:r>
              <a:rPr lang="it-IT" dirty="0" err="1" smtClean="0"/>
              <a:t>as</a:t>
            </a:r>
            <a:r>
              <a:rPr lang="it-IT" dirty="0" smtClean="0"/>
              <a:t> </a:t>
            </a:r>
            <a:r>
              <a:rPr lang="it-IT" dirty="0" err="1" smtClean="0"/>
              <a:t>prototyping</a:t>
            </a:r>
            <a:r>
              <a:rPr lang="it-IT" dirty="0" smtClean="0"/>
              <a:t> </a:t>
            </a:r>
            <a:r>
              <a:rPr lang="it-IT" dirty="0" err="1" smtClean="0"/>
              <a:t>tool</a:t>
            </a:r>
            <a:r>
              <a:rPr lang="it-IT" dirty="0" smtClean="0"/>
              <a:t> for the </a:t>
            </a:r>
            <a:r>
              <a:rPr lang="it-IT" dirty="0" err="1" smtClean="0"/>
              <a:t>interactive</a:t>
            </a:r>
            <a:r>
              <a:rPr lang="it-IT" dirty="0" smtClean="0"/>
              <a:t> </a:t>
            </a:r>
            <a:r>
              <a:rPr lang="it-IT" dirty="0" err="1" smtClean="0"/>
              <a:t>mockup</a:t>
            </a:r>
            <a:r>
              <a:rPr lang="it-IT" dirty="0" smtClean="0"/>
              <a:t>.</a:t>
            </a:r>
            <a:endParaRPr lang="it-IT" dirty="0"/>
          </a:p>
        </p:txBody>
      </p:sp>
      <p:pic>
        <p:nvPicPr>
          <p:cNvPr id="4" name="Immagine 3" descr="logo_tim_2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011" y="429985"/>
            <a:ext cx="2715578" cy="105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84419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1"/>
          <p:cNvSpPr>
            <a:spLocks noChangeArrowheads="1"/>
          </p:cNvSpPr>
          <p:nvPr/>
        </p:nvSpPr>
        <p:spPr bwMode="auto">
          <a:xfrm>
            <a:off x="824663" y="1172082"/>
            <a:ext cx="958548" cy="60355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6" name="TextBox 18"/>
          <p:cNvSpPr txBox="1"/>
          <p:nvPr/>
        </p:nvSpPr>
        <p:spPr>
          <a:xfrm>
            <a:off x="701265" y="870186"/>
            <a:ext cx="1191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i="1" dirty="0" err="1" smtClean="0"/>
              <a:t>Who</a:t>
            </a:r>
            <a:r>
              <a:rPr lang="it-IT" sz="1600" i="1" dirty="0" smtClean="0"/>
              <a:t> </a:t>
            </a:r>
            <a:r>
              <a:rPr lang="it-IT" sz="1600" i="1" dirty="0" err="1" smtClean="0"/>
              <a:t>we</a:t>
            </a:r>
            <a:r>
              <a:rPr lang="it-IT" sz="1600" i="1" dirty="0" smtClean="0"/>
              <a:t> are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424071" y="216123"/>
            <a:ext cx="1113182" cy="457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smtClean="0"/>
              <a:t>C-IDM</a:t>
            </a:r>
          </a:p>
        </p:txBody>
      </p:sp>
      <p:sp>
        <p:nvSpPr>
          <p:cNvPr id="11" name="TextBox 18"/>
          <p:cNvSpPr txBox="1"/>
          <p:nvPr/>
        </p:nvSpPr>
        <p:spPr>
          <a:xfrm>
            <a:off x="2159924" y="879000"/>
            <a:ext cx="22178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i="1" dirty="0" smtClean="0"/>
              <a:t>The </a:t>
            </a:r>
            <a:r>
              <a:rPr lang="it-IT" sz="1600" i="1" dirty="0" err="1" smtClean="0"/>
              <a:t>group</a:t>
            </a:r>
            <a:r>
              <a:rPr lang="it-IT" sz="1600" i="1" dirty="0" smtClean="0"/>
              <a:t> Telecom Italia</a:t>
            </a: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5082002" y="2270685"/>
            <a:ext cx="1005921" cy="712409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60325" cmpd="dbl">
            <a:solidFill>
              <a:schemeClr val="tx1"/>
            </a:solidFill>
            <a:round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19" name="TextBox 17"/>
          <p:cNvSpPr txBox="1"/>
          <p:nvPr/>
        </p:nvSpPr>
        <p:spPr>
          <a:xfrm>
            <a:off x="4852705" y="1922943"/>
            <a:ext cx="1482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i="1" dirty="0" smtClean="0"/>
              <a:t>Device [10-100]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31804" y="5706307"/>
            <a:ext cx="923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i="1" dirty="0" err="1" smtClean="0"/>
              <a:t>Highlights</a:t>
            </a:r>
            <a:endParaRPr lang="it-IT" sz="1400" i="1" dirty="0" smtClean="0"/>
          </a:p>
        </p:txBody>
      </p:sp>
      <p:cxnSp>
        <p:nvCxnSpPr>
          <p:cNvPr id="22" name="AutoShape 30"/>
          <p:cNvCxnSpPr>
            <a:cxnSpLocks noChangeShapeType="1"/>
          </p:cNvCxnSpPr>
          <p:nvPr/>
        </p:nvCxnSpPr>
        <p:spPr bwMode="auto">
          <a:xfrm flipH="1" flipV="1">
            <a:off x="5778716" y="3010381"/>
            <a:ext cx="11185" cy="116312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8" name="AutoShape 30"/>
          <p:cNvCxnSpPr>
            <a:cxnSpLocks noChangeShapeType="1"/>
          </p:cNvCxnSpPr>
          <p:nvPr/>
        </p:nvCxnSpPr>
        <p:spPr bwMode="auto">
          <a:xfrm>
            <a:off x="5437704" y="3019144"/>
            <a:ext cx="10679" cy="117014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1" name="AutoShape 38"/>
          <p:cNvSpPr>
            <a:spLocks noChangeArrowheads="1"/>
          </p:cNvSpPr>
          <p:nvPr/>
        </p:nvSpPr>
        <p:spPr bwMode="auto">
          <a:xfrm rot="5400000">
            <a:off x="5288147" y="1465606"/>
            <a:ext cx="632897" cy="323106"/>
          </a:xfrm>
          <a:prstGeom prst="rightArrow">
            <a:avLst>
              <a:gd name="adj1" fmla="val 47528"/>
              <a:gd name="adj2" fmla="val 4803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42" name="AutoShape 18"/>
          <p:cNvSpPr>
            <a:spLocks noChangeArrowheads="1"/>
          </p:cNvSpPr>
          <p:nvPr/>
        </p:nvSpPr>
        <p:spPr bwMode="auto">
          <a:xfrm rot="5400000" flipV="1">
            <a:off x="1048396" y="2331350"/>
            <a:ext cx="356740" cy="465758"/>
          </a:xfrm>
          <a:prstGeom prst="diamond">
            <a:avLst/>
          </a:prstGeom>
          <a:solidFill>
            <a:schemeClr val="accent6">
              <a:lumMod val="60000"/>
              <a:lumOff val="40000"/>
              <a:alpha val="76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43" name="TextBox 20"/>
          <p:cNvSpPr txBox="1"/>
          <p:nvPr/>
        </p:nvSpPr>
        <p:spPr>
          <a:xfrm>
            <a:off x="620221" y="2741530"/>
            <a:ext cx="1070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i="1" dirty="0" err="1" smtClean="0"/>
              <a:t>All</a:t>
            </a:r>
            <a:r>
              <a:rPr lang="it-IT" sz="1400" i="1" dirty="0"/>
              <a:t> </a:t>
            </a:r>
            <a:r>
              <a:rPr lang="it-IT" sz="1400" i="1" dirty="0" err="1" smtClean="0"/>
              <a:t>Category</a:t>
            </a:r>
            <a:endParaRPr lang="it-IT" sz="1400" i="1" dirty="0"/>
          </a:p>
        </p:txBody>
      </p:sp>
      <p:sp>
        <p:nvSpPr>
          <p:cNvPr id="44" name="TextBox 19"/>
          <p:cNvSpPr txBox="1"/>
          <p:nvPr/>
        </p:nvSpPr>
        <p:spPr>
          <a:xfrm>
            <a:off x="4212172" y="3342606"/>
            <a:ext cx="1351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 smtClean="0"/>
              <a:t>Assistance for</a:t>
            </a:r>
          </a:p>
          <a:p>
            <a:pPr algn="ctr"/>
            <a:r>
              <a:rPr lang="it-IT" sz="1400" i="1" dirty="0" smtClean="0"/>
              <a:t>1:10</a:t>
            </a:r>
            <a:endParaRPr lang="it-IT" sz="1400" i="1" dirty="0"/>
          </a:p>
        </p:txBody>
      </p:sp>
      <p:sp>
        <p:nvSpPr>
          <p:cNvPr id="45" name="TextBox 19"/>
          <p:cNvSpPr txBox="1"/>
          <p:nvPr/>
        </p:nvSpPr>
        <p:spPr>
          <a:xfrm>
            <a:off x="6343456" y="1983822"/>
            <a:ext cx="1901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 err="1" smtClean="0"/>
              <a:t>Available</a:t>
            </a:r>
            <a:r>
              <a:rPr lang="it-IT" sz="1400" i="1" dirty="0" smtClean="0"/>
              <a:t> SL Service</a:t>
            </a:r>
          </a:p>
          <a:p>
            <a:pPr algn="ctr"/>
            <a:r>
              <a:rPr lang="it-IT" sz="1400" i="1" dirty="0" smtClean="0"/>
              <a:t>1:5</a:t>
            </a:r>
            <a:endParaRPr lang="it-IT" sz="1400" i="1" dirty="0"/>
          </a:p>
        </p:txBody>
      </p:sp>
      <p:sp>
        <p:nvSpPr>
          <p:cNvPr id="47" name="TextBox 17"/>
          <p:cNvSpPr txBox="1"/>
          <p:nvPr/>
        </p:nvSpPr>
        <p:spPr>
          <a:xfrm>
            <a:off x="8334534" y="1946559"/>
            <a:ext cx="1672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i="1" dirty="0" smtClean="0"/>
              <a:t>Smart Life [10-50]</a:t>
            </a:r>
          </a:p>
        </p:txBody>
      </p:sp>
      <p:cxnSp>
        <p:nvCxnSpPr>
          <p:cNvPr id="48" name="AutoShape 30"/>
          <p:cNvCxnSpPr>
            <a:cxnSpLocks noChangeShapeType="1"/>
          </p:cNvCxnSpPr>
          <p:nvPr/>
        </p:nvCxnSpPr>
        <p:spPr bwMode="auto">
          <a:xfrm>
            <a:off x="6121417" y="2461015"/>
            <a:ext cx="2345606" cy="316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1" name="AutoShape 30"/>
          <p:cNvCxnSpPr>
            <a:cxnSpLocks noChangeShapeType="1"/>
          </p:cNvCxnSpPr>
          <p:nvPr/>
        </p:nvCxnSpPr>
        <p:spPr bwMode="auto">
          <a:xfrm flipV="1">
            <a:off x="6108601" y="2725498"/>
            <a:ext cx="2345606" cy="718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triangle"/>
            <a:tailEnd type="none" w="med" len="med"/>
          </a:ln>
        </p:spPr>
      </p:cxnSp>
      <p:sp>
        <p:nvSpPr>
          <p:cNvPr id="54" name="TextBox 19"/>
          <p:cNvSpPr txBox="1"/>
          <p:nvPr/>
        </p:nvSpPr>
        <p:spPr>
          <a:xfrm>
            <a:off x="5581851" y="3278879"/>
            <a:ext cx="13156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 err="1"/>
              <a:t>Needed</a:t>
            </a:r>
            <a:r>
              <a:rPr lang="it-IT" sz="1400" i="1" dirty="0"/>
              <a:t> Device(s</a:t>
            </a:r>
            <a:r>
              <a:rPr lang="it-IT" sz="1400" i="1" dirty="0" smtClean="0"/>
              <a:t>)_2</a:t>
            </a:r>
            <a:endParaRPr lang="it-IT" sz="1400" i="1" dirty="0"/>
          </a:p>
          <a:p>
            <a:pPr algn="ctr"/>
            <a:r>
              <a:rPr lang="it-IT" sz="1400" i="1" dirty="0" smtClean="0"/>
              <a:t>1:10</a:t>
            </a:r>
            <a:endParaRPr lang="it-IT" sz="1400" i="1" dirty="0"/>
          </a:p>
        </p:txBody>
      </p:sp>
      <p:sp>
        <p:nvSpPr>
          <p:cNvPr id="55" name="TextBox 19"/>
          <p:cNvSpPr txBox="1"/>
          <p:nvPr/>
        </p:nvSpPr>
        <p:spPr>
          <a:xfrm>
            <a:off x="6202093" y="2793576"/>
            <a:ext cx="2234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 err="1" smtClean="0"/>
              <a:t>Needed</a:t>
            </a:r>
            <a:r>
              <a:rPr lang="it-IT" sz="1400" i="1" dirty="0" smtClean="0"/>
              <a:t> Device(s)_1</a:t>
            </a:r>
          </a:p>
          <a:p>
            <a:pPr algn="ctr"/>
            <a:r>
              <a:rPr lang="it-IT" sz="1400" i="1" dirty="0" smtClean="0"/>
              <a:t>1:30</a:t>
            </a:r>
            <a:endParaRPr lang="it-IT" sz="1400" i="1" dirty="0"/>
          </a:p>
        </p:txBody>
      </p:sp>
      <p:sp>
        <p:nvSpPr>
          <p:cNvPr id="67" name="AutoShape 38"/>
          <p:cNvSpPr>
            <a:spLocks noChangeArrowheads="1"/>
          </p:cNvSpPr>
          <p:nvPr/>
        </p:nvSpPr>
        <p:spPr bwMode="auto">
          <a:xfrm rot="10800000">
            <a:off x="9527116" y="2428989"/>
            <a:ext cx="510900" cy="320457"/>
          </a:xfrm>
          <a:prstGeom prst="rightArrow">
            <a:avLst>
              <a:gd name="adj1" fmla="val 47528"/>
              <a:gd name="adj2" fmla="val 4803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69" name="TextBox 20"/>
          <p:cNvSpPr txBox="1"/>
          <p:nvPr/>
        </p:nvSpPr>
        <p:spPr>
          <a:xfrm>
            <a:off x="5766149" y="868334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600" i="1" dirty="0" smtClean="0"/>
              <a:t>Promotion</a:t>
            </a:r>
            <a:endParaRPr lang="it-IT" sz="1600" i="1" dirty="0"/>
          </a:p>
        </p:txBody>
      </p:sp>
      <p:sp>
        <p:nvSpPr>
          <p:cNvPr id="80" name="AutoShape 38"/>
          <p:cNvSpPr>
            <a:spLocks noChangeArrowheads="1"/>
          </p:cNvSpPr>
          <p:nvPr/>
        </p:nvSpPr>
        <p:spPr bwMode="auto">
          <a:xfrm rot="16200000">
            <a:off x="5331321" y="5230630"/>
            <a:ext cx="501060" cy="323106"/>
          </a:xfrm>
          <a:prstGeom prst="rightArrow">
            <a:avLst>
              <a:gd name="adj1" fmla="val 47528"/>
              <a:gd name="adj2" fmla="val 4803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64" name="AutoShape 17"/>
          <p:cNvSpPr>
            <a:spLocks noChangeArrowheads="1"/>
          </p:cNvSpPr>
          <p:nvPr/>
        </p:nvSpPr>
        <p:spPr bwMode="auto">
          <a:xfrm rot="5400000" flipV="1">
            <a:off x="2370373" y="2356247"/>
            <a:ext cx="374906" cy="454961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/>
          </a:p>
        </p:txBody>
      </p:sp>
      <p:sp>
        <p:nvSpPr>
          <p:cNvPr id="83" name="AutoShape 38"/>
          <p:cNvSpPr>
            <a:spLocks noChangeArrowheads="1"/>
          </p:cNvSpPr>
          <p:nvPr/>
        </p:nvSpPr>
        <p:spPr bwMode="auto">
          <a:xfrm>
            <a:off x="1449571" y="2418424"/>
            <a:ext cx="854598" cy="323106"/>
          </a:xfrm>
          <a:prstGeom prst="rightArrow">
            <a:avLst>
              <a:gd name="adj1" fmla="val 47528"/>
              <a:gd name="adj2" fmla="val 4803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 dirty="0"/>
          </a:p>
        </p:txBody>
      </p:sp>
      <p:sp>
        <p:nvSpPr>
          <p:cNvPr id="85" name="TextBox 20"/>
          <p:cNvSpPr txBox="1"/>
          <p:nvPr/>
        </p:nvSpPr>
        <p:spPr>
          <a:xfrm>
            <a:off x="1690386" y="2747409"/>
            <a:ext cx="1570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i="1" dirty="0" smtClean="0"/>
              <a:t>Device by </a:t>
            </a:r>
            <a:r>
              <a:rPr lang="it-IT" sz="1400" i="1" dirty="0" err="1" smtClean="0"/>
              <a:t>Category</a:t>
            </a:r>
            <a:endParaRPr lang="it-IT" sz="1400" i="1" dirty="0"/>
          </a:p>
        </p:txBody>
      </p:sp>
      <p:sp>
        <p:nvSpPr>
          <p:cNvPr id="86" name="TextBox 20"/>
          <p:cNvSpPr txBox="1"/>
          <p:nvPr/>
        </p:nvSpPr>
        <p:spPr>
          <a:xfrm>
            <a:off x="3119710" y="2754307"/>
            <a:ext cx="1955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/>
              <a:t>Device by </a:t>
            </a:r>
            <a:r>
              <a:rPr lang="it-IT" sz="1400" i="1" dirty="0" err="1" smtClean="0"/>
              <a:t>Category</a:t>
            </a:r>
            <a:r>
              <a:rPr lang="it-IT" sz="1400" i="1" dirty="0" smtClean="0"/>
              <a:t> C and </a:t>
            </a:r>
            <a:r>
              <a:rPr lang="it-IT" sz="1400" i="1" dirty="0" err="1" smtClean="0"/>
              <a:t>Characteristics</a:t>
            </a:r>
            <a:r>
              <a:rPr lang="it-IT" sz="1400" i="1" dirty="0" smtClean="0"/>
              <a:t> X Y Z</a:t>
            </a:r>
            <a:endParaRPr lang="it-IT" sz="1400" i="1" dirty="0"/>
          </a:p>
        </p:txBody>
      </p:sp>
      <p:sp>
        <p:nvSpPr>
          <p:cNvPr id="91" name="AutoShape 38"/>
          <p:cNvSpPr>
            <a:spLocks noChangeArrowheads="1"/>
          </p:cNvSpPr>
          <p:nvPr/>
        </p:nvSpPr>
        <p:spPr bwMode="auto">
          <a:xfrm>
            <a:off x="4192502" y="2426340"/>
            <a:ext cx="854598" cy="323106"/>
          </a:xfrm>
          <a:prstGeom prst="rightArrow">
            <a:avLst>
              <a:gd name="adj1" fmla="val 47528"/>
              <a:gd name="adj2" fmla="val 4803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92" name="AutoShape 38"/>
          <p:cNvSpPr>
            <a:spLocks noChangeArrowheads="1"/>
          </p:cNvSpPr>
          <p:nvPr/>
        </p:nvSpPr>
        <p:spPr bwMode="auto">
          <a:xfrm>
            <a:off x="2825399" y="2418424"/>
            <a:ext cx="854598" cy="323106"/>
          </a:xfrm>
          <a:prstGeom prst="rightArrow">
            <a:avLst>
              <a:gd name="adj1" fmla="val 47528"/>
              <a:gd name="adj2" fmla="val 4803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99" name="AutoShape 38"/>
          <p:cNvSpPr>
            <a:spLocks noChangeArrowheads="1"/>
          </p:cNvSpPr>
          <p:nvPr/>
        </p:nvSpPr>
        <p:spPr bwMode="auto">
          <a:xfrm>
            <a:off x="2829878" y="4389914"/>
            <a:ext cx="854598" cy="323106"/>
          </a:xfrm>
          <a:prstGeom prst="rightArrow">
            <a:avLst>
              <a:gd name="adj1" fmla="val 47528"/>
              <a:gd name="adj2" fmla="val 4803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 dirty="0"/>
          </a:p>
        </p:txBody>
      </p:sp>
      <p:sp>
        <p:nvSpPr>
          <p:cNvPr id="100" name="AutoShape 38"/>
          <p:cNvSpPr>
            <a:spLocks noChangeArrowheads="1"/>
          </p:cNvSpPr>
          <p:nvPr/>
        </p:nvSpPr>
        <p:spPr bwMode="auto">
          <a:xfrm>
            <a:off x="4192266" y="4389914"/>
            <a:ext cx="854598" cy="323106"/>
          </a:xfrm>
          <a:prstGeom prst="rightArrow">
            <a:avLst>
              <a:gd name="adj1" fmla="val 47528"/>
              <a:gd name="adj2" fmla="val 4803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102" name="AutoShape 38"/>
          <p:cNvSpPr>
            <a:spLocks noChangeArrowheads="1"/>
          </p:cNvSpPr>
          <p:nvPr/>
        </p:nvSpPr>
        <p:spPr bwMode="auto">
          <a:xfrm rot="10800000">
            <a:off x="6123886" y="4383939"/>
            <a:ext cx="854598" cy="323106"/>
          </a:xfrm>
          <a:prstGeom prst="rightArrow">
            <a:avLst>
              <a:gd name="adj1" fmla="val 47528"/>
              <a:gd name="adj2" fmla="val 4803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 dirty="0"/>
          </a:p>
        </p:txBody>
      </p:sp>
      <p:sp>
        <p:nvSpPr>
          <p:cNvPr id="108" name="AutoShape 38"/>
          <p:cNvSpPr>
            <a:spLocks noChangeArrowheads="1"/>
          </p:cNvSpPr>
          <p:nvPr/>
        </p:nvSpPr>
        <p:spPr bwMode="auto">
          <a:xfrm rot="16200000">
            <a:off x="8784813" y="3099955"/>
            <a:ext cx="500559" cy="323106"/>
          </a:xfrm>
          <a:prstGeom prst="rightArrow">
            <a:avLst>
              <a:gd name="adj1" fmla="val 47528"/>
              <a:gd name="adj2" fmla="val 4803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109" name="AutoShape 38"/>
          <p:cNvSpPr>
            <a:spLocks noChangeArrowheads="1"/>
          </p:cNvSpPr>
          <p:nvPr/>
        </p:nvSpPr>
        <p:spPr bwMode="auto">
          <a:xfrm rot="16200000">
            <a:off x="8784813" y="4114341"/>
            <a:ext cx="500559" cy="323106"/>
          </a:xfrm>
          <a:prstGeom prst="rightArrow">
            <a:avLst>
              <a:gd name="adj1" fmla="val 47528"/>
              <a:gd name="adj2" fmla="val 4803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110" name="TextBox 17"/>
          <p:cNvSpPr txBox="1"/>
          <p:nvPr/>
        </p:nvSpPr>
        <p:spPr>
          <a:xfrm>
            <a:off x="4631981" y="4868116"/>
            <a:ext cx="2102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i="1" dirty="0" smtClean="0"/>
              <a:t>Assistance Service  [50]</a:t>
            </a:r>
          </a:p>
        </p:txBody>
      </p:sp>
      <p:sp>
        <p:nvSpPr>
          <p:cNvPr id="29" name="Rettangolo 28"/>
          <p:cNvSpPr/>
          <p:nvPr/>
        </p:nvSpPr>
        <p:spPr>
          <a:xfrm>
            <a:off x="3235648" y="4695451"/>
            <a:ext cx="152112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i="1" dirty="0" smtClean="0"/>
              <a:t>Assistance </a:t>
            </a:r>
            <a:r>
              <a:rPr lang="it-IT" sz="1400" i="1" dirty="0"/>
              <a:t>S</a:t>
            </a:r>
            <a:r>
              <a:rPr lang="it-IT" sz="1400" i="1" dirty="0" smtClean="0"/>
              <a:t>ervices by </a:t>
            </a:r>
            <a:r>
              <a:rPr lang="it-IT" sz="1400" i="1" dirty="0" err="1" smtClean="0"/>
              <a:t>Category</a:t>
            </a:r>
            <a:endParaRPr lang="it-IT" sz="1400" i="1" dirty="0"/>
          </a:p>
        </p:txBody>
      </p:sp>
      <p:sp>
        <p:nvSpPr>
          <p:cNvPr id="111" name="Rettangolo 110"/>
          <p:cNvSpPr/>
          <p:nvPr/>
        </p:nvSpPr>
        <p:spPr>
          <a:xfrm>
            <a:off x="1813225" y="4718670"/>
            <a:ext cx="152112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i="1" dirty="0" err="1" smtClean="0"/>
              <a:t>All</a:t>
            </a:r>
            <a:r>
              <a:rPr lang="it-IT" sz="1400" i="1" dirty="0" smtClean="0"/>
              <a:t> Assistance Services </a:t>
            </a:r>
            <a:r>
              <a:rPr lang="it-IT" sz="1400" i="1" dirty="0" err="1"/>
              <a:t>c</a:t>
            </a:r>
            <a:r>
              <a:rPr lang="it-IT" sz="1400" i="1" dirty="0" err="1" smtClean="0"/>
              <a:t>ategories</a:t>
            </a:r>
            <a:endParaRPr lang="it-IT" sz="1400" i="1" dirty="0"/>
          </a:p>
        </p:txBody>
      </p:sp>
      <p:sp>
        <p:nvSpPr>
          <p:cNvPr id="112" name="Rettangolo 111"/>
          <p:cNvSpPr/>
          <p:nvPr/>
        </p:nvSpPr>
        <p:spPr>
          <a:xfrm>
            <a:off x="6510469" y="4714510"/>
            <a:ext cx="15211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i="1" dirty="0" err="1" smtClean="0"/>
              <a:t>All</a:t>
            </a:r>
            <a:r>
              <a:rPr lang="it-IT" sz="1400" i="1" dirty="0" smtClean="0"/>
              <a:t> Assistance Services</a:t>
            </a:r>
            <a:endParaRPr lang="it-IT" sz="1400" i="1" dirty="0"/>
          </a:p>
        </p:txBody>
      </p:sp>
      <p:sp>
        <p:nvSpPr>
          <p:cNvPr id="113" name="Rettangolo 112"/>
          <p:cNvSpPr/>
          <p:nvPr/>
        </p:nvSpPr>
        <p:spPr>
          <a:xfrm>
            <a:off x="10286238" y="2444661"/>
            <a:ext cx="15211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i="1" dirty="0" err="1" smtClean="0"/>
              <a:t>All</a:t>
            </a:r>
            <a:r>
              <a:rPr lang="it-IT" sz="1400" i="1" dirty="0" smtClean="0"/>
              <a:t> Smart Life</a:t>
            </a:r>
            <a:endParaRPr lang="it-IT" sz="1400" i="1" dirty="0"/>
          </a:p>
        </p:txBody>
      </p:sp>
      <p:sp>
        <p:nvSpPr>
          <p:cNvPr id="114" name="Rettangolo 113"/>
          <p:cNvSpPr/>
          <p:nvPr/>
        </p:nvSpPr>
        <p:spPr>
          <a:xfrm>
            <a:off x="9006084" y="4533238"/>
            <a:ext cx="15211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i="1" dirty="0" err="1" smtClean="0"/>
              <a:t>All</a:t>
            </a:r>
            <a:r>
              <a:rPr lang="it-IT" sz="1400" i="1" dirty="0" smtClean="0"/>
              <a:t> Smart Life </a:t>
            </a:r>
            <a:r>
              <a:rPr lang="it-IT" sz="1400" i="1" dirty="0" err="1" smtClean="0"/>
              <a:t>categories</a:t>
            </a:r>
            <a:endParaRPr lang="it-IT" sz="1400" i="1" dirty="0"/>
          </a:p>
        </p:txBody>
      </p:sp>
      <p:sp>
        <p:nvSpPr>
          <p:cNvPr id="115" name="Rettangolo 114"/>
          <p:cNvSpPr/>
          <p:nvPr/>
        </p:nvSpPr>
        <p:spPr>
          <a:xfrm>
            <a:off x="8989059" y="3527782"/>
            <a:ext cx="15211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i="1" dirty="0" smtClean="0"/>
              <a:t>Smart Life by </a:t>
            </a:r>
            <a:r>
              <a:rPr lang="it-IT" sz="1400" i="1" dirty="0" err="1" smtClean="0"/>
              <a:t>Category</a:t>
            </a:r>
            <a:endParaRPr lang="it-IT" sz="1400" i="1" dirty="0"/>
          </a:p>
        </p:txBody>
      </p:sp>
      <p:sp>
        <p:nvSpPr>
          <p:cNvPr id="59" name="AutoShape 21"/>
          <p:cNvSpPr>
            <a:spLocks noChangeArrowheads="1"/>
          </p:cNvSpPr>
          <p:nvPr/>
        </p:nvSpPr>
        <p:spPr bwMode="auto">
          <a:xfrm>
            <a:off x="2753611" y="1193853"/>
            <a:ext cx="958548" cy="60355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60" name="AutoShape 15"/>
          <p:cNvSpPr>
            <a:spLocks noChangeArrowheads="1"/>
          </p:cNvSpPr>
          <p:nvPr/>
        </p:nvSpPr>
        <p:spPr bwMode="auto">
          <a:xfrm>
            <a:off x="5051523" y="4173507"/>
            <a:ext cx="1005921" cy="712409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60325" cmpd="dbl">
            <a:solidFill>
              <a:schemeClr val="tx1"/>
            </a:solidFill>
            <a:round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61" name="AutoShape 15"/>
          <p:cNvSpPr>
            <a:spLocks noChangeArrowheads="1"/>
          </p:cNvSpPr>
          <p:nvPr/>
        </p:nvSpPr>
        <p:spPr bwMode="auto">
          <a:xfrm>
            <a:off x="8495762" y="2261977"/>
            <a:ext cx="1005921" cy="712409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60325" cmpd="dbl">
            <a:solidFill>
              <a:schemeClr val="tx1"/>
            </a:solidFill>
            <a:round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62" name="AutoShape 17"/>
          <p:cNvSpPr>
            <a:spLocks noChangeArrowheads="1"/>
          </p:cNvSpPr>
          <p:nvPr/>
        </p:nvSpPr>
        <p:spPr bwMode="auto">
          <a:xfrm flipV="1">
            <a:off x="8858260" y="3514487"/>
            <a:ext cx="374906" cy="454961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/>
          </a:p>
        </p:txBody>
      </p:sp>
      <p:sp>
        <p:nvSpPr>
          <p:cNvPr id="63" name="AutoShape 17"/>
          <p:cNvSpPr>
            <a:spLocks noChangeArrowheads="1"/>
          </p:cNvSpPr>
          <p:nvPr/>
        </p:nvSpPr>
        <p:spPr bwMode="auto">
          <a:xfrm rot="5400000" flipV="1">
            <a:off x="3746328" y="2360603"/>
            <a:ext cx="374906" cy="454961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/>
          </a:p>
        </p:txBody>
      </p:sp>
      <p:sp>
        <p:nvSpPr>
          <p:cNvPr id="65" name="AutoShape 17"/>
          <p:cNvSpPr>
            <a:spLocks noChangeArrowheads="1"/>
          </p:cNvSpPr>
          <p:nvPr/>
        </p:nvSpPr>
        <p:spPr bwMode="auto">
          <a:xfrm rot="5400000" flipV="1">
            <a:off x="3720201" y="4333095"/>
            <a:ext cx="374906" cy="454961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/>
          </a:p>
        </p:txBody>
      </p:sp>
      <p:sp>
        <p:nvSpPr>
          <p:cNvPr id="66" name="AutoShape 18"/>
          <p:cNvSpPr>
            <a:spLocks noChangeArrowheads="1"/>
          </p:cNvSpPr>
          <p:nvPr/>
        </p:nvSpPr>
        <p:spPr bwMode="auto">
          <a:xfrm rot="5400000" flipV="1">
            <a:off x="10096602" y="2340058"/>
            <a:ext cx="356740" cy="465758"/>
          </a:xfrm>
          <a:prstGeom prst="diamond">
            <a:avLst/>
          </a:prstGeom>
          <a:solidFill>
            <a:schemeClr val="accent6">
              <a:lumMod val="60000"/>
              <a:lumOff val="40000"/>
              <a:alpha val="76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71" name="AutoShape 18"/>
          <p:cNvSpPr>
            <a:spLocks noChangeArrowheads="1"/>
          </p:cNvSpPr>
          <p:nvPr/>
        </p:nvSpPr>
        <p:spPr bwMode="auto">
          <a:xfrm rot="10800000" flipV="1">
            <a:off x="8864339" y="4530264"/>
            <a:ext cx="356740" cy="465758"/>
          </a:xfrm>
          <a:prstGeom prst="diamond">
            <a:avLst/>
          </a:prstGeom>
          <a:solidFill>
            <a:schemeClr val="accent6">
              <a:lumMod val="60000"/>
              <a:lumOff val="40000"/>
              <a:alpha val="76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73" name="AutoShape 18"/>
          <p:cNvSpPr>
            <a:spLocks noChangeArrowheads="1"/>
          </p:cNvSpPr>
          <p:nvPr/>
        </p:nvSpPr>
        <p:spPr bwMode="auto">
          <a:xfrm rot="10800000" flipV="1">
            <a:off x="5398327" y="5662379"/>
            <a:ext cx="356740" cy="465758"/>
          </a:xfrm>
          <a:prstGeom prst="diamond">
            <a:avLst/>
          </a:prstGeom>
          <a:solidFill>
            <a:schemeClr val="accent6">
              <a:lumMod val="60000"/>
              <a:lumOff val="40000"/>
              <a:alpha val="76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74" name="AutoShape 18"/>
          <p:cNvSpPr>
            <a:spLocks noChangeArrowheads="1"/>
          </p:cNvSpPr>
          <p:nvPr/>
        </p:nvSpPr>
        <p:spPr bwMode="auto">
          <a:xfrm rot="5400000" flipV="1">
            <a:off x="7039894" y="4299487"/>
            <a:ext cx="356740" cy="465758"/>
          </a:xfrm>
          <a:prstGeom prst="diamond">
            <a:avLst/>
          </a:prstGeom>
          <a:solidFill>
            <a:schemeClr val="accent6">
              <a:lumMod val="60000"/>
              <a:lumOff val="40000"/>
              <a:alpha val="76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75" name="AutoShape 18"/>
          <p:cNvSpPr>
            <a:spLocks noChangeArrowheads="1"/>
          </p:cNvSpPr>
          <p:nvPr/>
        </p:nvSpPr>
        <p:spPr bwMode="auto">
          <a:xfrm rot="5400000" flipV="1">
            <a:off x="2411287" y="4321259"/>
            <a:ext cx="356740" cy="465758"/>
          </a:xfrm>
          <a:prstGeom prst="diamond">
            <a:avLst/>
          </a:prstGeom>
          <a:solidFill>
            <a:schemeClr val="accent6">
              <a:lumMod val="60000"/>
              <a:lumOff val="40000"/>
              <a:alpha val="76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  <p:sp>
        <p:nvSpPr>
          <p:cNvPr id="76" name="AutoShape 18"/>
          <p:cNvSpPr>
            <a:spLocks noChangeArrowheads="1"/>
          </p:cNvSpPr>
          <p:nvPr/>
        </p:nvSpPr>
        <p:spPr bwMode="auto">
          <a:xfrm rot="10800000" flipV="1">
            <a:off x="5433161" y="811705"/>
            <a:ext cx="356740" cy="465758"/>
          </a:xfrm>
          <a:prstGeom prst="diamond">
            <a:avLst/>
          </a:prstGeom>
          <a:solidFill>
            <a:schemeClr val="accent6">
              <a:lumMod val="60000"/>
              <a:lumOff val="40000"/>
              <a:alpha val="76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2518" tIns="31259" rIns="62518" bIns="31259" anchor="ctr"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xmlns="" val="266014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8"/>
          <p:cNvSpPr txBox="1"/>
          <p:nvPr/>
        </p:nvSpPr>
        <p:spPr>
          <a:xfrm>
            <a:off x="928753" y="897713"/>
            <a:ext cx="1217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err="1" smtClean="0"/>
              <a:t>Who</a:t>
            </a:r>
            <a:r>
              <a:rPr lang="it-IT" sz="1600" b="1" dirty="0" smtClean="0"/>
              <a:t> </a:t>
            </a:r>
            <a:r>
              <a:rPr lang="it-IT" sz="1600" b="1" dirty="0" err="1" smtClean="0"/>
              <a:t>we</a:t>
            </a:r>
            <a:r>
              <a:rPr lang="it-IT" sz="1600" b="1" dirty="0" smtClean="0"/>
              <a:t> are</a:t>
            </a:r>
          </a:p>
        </p:txBody>
      </p:sp>
      <p:sp>
        <p:nvSpPr>
          <p:cNvPr id="5" name="TextBox 18"/>
          <p:cNvSpPr txBox="1"/>
          <p:nvPr/>
        </p:nvSpPr>
        <p:spPr>
          <a:xfrm>
            <a:off x="2668405" y="899532"/>
            <a:ext cx="22776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smtClean="0"/>
              <a:t>The </a:t>
            </a:r>
            <a:r>
              <a:rPr lang="it-IT" sz="1600" b="1" dirty="0" err="1" smtClean="0"/>
              <a:t>group</a:t>
            </a:r>
            <a:r>
              <a:rPr lang="it-IT" sz="1600" b="1" dirty="0" smtClean="0"/>
              <a:t> Telecom Italia</a:t>
            </a:r>
          </a:p>
        </p:txBody>
      </p:sp>
      <p:sp>
        <p:nvSpPr>
          <p:cNvPr id="7" name="TextBox 17"/>
          <p:cNvSpPr txBox="1"/>
          <p:nvPr/>
        </p:nvSpPr>
        <p:spPr>
          <a:xfrm>
            <a:off x="5272851" y="1923937"/>
            <a:ext cx="1508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smtClean="0"/>
              <a:t>Device [10-100]</a:t>
            </a:r>
          </a:p>
        </p:txBody>
      </p:sp>
      <p:sp>
        <p:nvSpPr>
          <p:cNvPr id="9" name="TextBox 17"/>
          <p:cNvSpPr txBox="1"/>
          <p:nvPr/>
        </p:nvSpPr>
        <p:spPr>
          <a:xfrm>
            <a:off x="6279262" y="6116979"/>
            <a:ext cx="923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i="1" dirty="0" err="1" smtClean="0"/>
              <a:t>Highlights</a:t>
            </a:r>
            <a:endParaRPr lang="it-IT" sz="1400" i="1" dirty="0" smtClean="0"/>
          </a:p>
        </p:txBody>
      </p:sp>
      <p:cxnSp>
        <p:nvCxnSpPr>
          <p:cNvPr id="10" name="AutoShape 30"/>
          <p:cNvCxnSpPr>
            <a:cxnSpLocks noChangeShapeType="1"/>
          </p:cNvCxnSpPr>
          <p:nvPr/>
        </p:nvCxnSpPr>
        <p:spPr bwMode="auto">
          <a:xfrm flipV="1">
            <a:off x="6304547" y="3253020"/>
            <a:ext cx="587" cy="1166044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11" name="AutoShape 30"/>
          <p:cNvCxnSpPr>
            <a:cxnSpLocks noChangeShapeType="1"/>
          </p:cNvCxnSpPr>
          <p:nvPr/>
        </p:nvCxnSpPr>
        <p:spPr bwMode="auto">
          <a:xfrm flipH="1">
            <a:off x="5739810" y="3216442"/>
            <a:ext cx="10868" cy="1180299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</p:spPr>
      </p:cxnSp>
      <p:sp>
        <p:nvSpPr>
          <p:cNvPr id="14" name="TextBox 20"/>
          <p:cNvSpPr txBox="1"/>
          <p:nvPr/>
        </p:nvSpPr>
        <p:spPr>
          <a:xfrm>
            <a:off x="2579185" y="2952457"/>
            <a:ext cx="1070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i="1" dirty="0" err="1" smtClean="0"/>
              <a:t>All</a:t>
            </a:r>
            <a:r>
              <a:rPr lang="it-IT" sz="1400" i="1" dirty="0"/>
              <a:t> </a:t>
            </a:r>
            <a:r>
              <a:rPr lang="it-IT" sz="1400" i="1" dirty="0" err="1" smtClean="0"/>
              <a:t>Category</a:t>
            </a:r>
            <a:endParaRPr lang="it-IT" sz="1400" i="1" dirty="0"/>
          </a:p>
        </p:txBody>
      </p:sp>
      <p:sp>
        <p:nvSpPr>
          <p:cNvPr id="15" name="TextBox 19"/>
          <p:cNvSpPr txBox="1"/>
          <p:nvPr/>
        </p:nvSpPr>
        <p:spPr>
          <a:xfrm>
            <a:off x="4283534" y="3585175"/>
            <a:ext cx="1351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 smtClean="0"/>
              <a:t>Assistance for</a:t>
            </a:r>
          </a:p>
          <a:p>
            <a:pPr algn="ctr"/>
            <a:r>
              <a:rPr lang="it-IT" sz="1400" i="1" dirty="0" smtClean="0"/>
              <a:t>1:10</a:t>
            </a:r>
            <a:endParaRPr lang="it-IT" sz="1400" i="1" dirty="0"/>
          </a:p>
        </p:txBody>
      </p:sp>
      <p:sp>
        <p:nvSpPr>
          <p:cNvPr id="16" name="TextBox 19"/>
          <p:cNvSpPr txBox="1"/>
          <p:nvPr/>
        </p:nvSpPr>
        <p:spPr>
          <a:xfrm>
            <a:off x="6884646" y="1929388"/>
            <a:ext cx="1901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 err="1" smtClean="0"/>
              <a:t>Available</a:t>
            </a:r>
            <a:r>
              <a:rPr lang="it-IT" sz="1400" i="1" dirty="0" smtClean="0"/>
              <a:t> SL Service</a:t>
            </a:r>
          </a:p>
          <a:p>
            <a:pPr algn="ctr"/>
            <a:r>
              <a:rPr lang="it-IT" sz="1400" i="1" dirty="0" smtClean="0"/>
              <a:t>1:5</a:t>
            </a:r>
            <a:endParaRPr lang="it-IT" sz="1400" i="1" dirty="0"/>
          </a:p>
        </p:txBody>
      </p:sp>
      <p:sp>
        <p:nvSpPr>
          <p:cNvPr id="18" name="TextBox 17"/>
          <p:cNvSpPr txBox="1"/>
          <p:nvPr/>
        </p:nvSpPr>
        <p:spPr>
          <a:xfrm>
            <a:off x="8810826" y="1895302"/>
            <a:ext cx="1705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smtClean="0"/>
              <a:t>Smart Life [10-50]</a:t>
            </a:r>
          </a:p>
        </p:txBody>
      </p:sp>
      <p:cxnSp>
        <p:nvCxnSpPr>
          <p:cNvPr id="19" name="AutoShape 30"/>
          <p:cNvCxnSpPr>
            <a:cxnSpLocks noChangeShapeType="1"/>
          </p:cNvCxnSpPr>
          <p:nvPr/>
        </p:nvCxnSpPr>
        <p:spPr bwMode="auto">
          <a:xfrm>
            <a:off x="6447459" y="2530939"/>
            <a:ext cx="2345606" cy="3168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20" name="AutoShape 30"/>
          <p:cNvCxnSpPr>
            <a:cxnSpLocks noChangeShapeType="1"/>
          </p:cNvCxnSpPr>
          <p:nvPr/>
        </p:nvCxnSpPr>
        <p:spPr bwMode="auto">
          <a:xfrm flipV="1">
            <a:off x="6997266" y="2914053"/>
            <a:ext cx="2345606" cy="7183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 type="triangle"/>
            <a:tailEnd type="none" w="med" len="med"/>
          </a:ln>
        </p:spPr>
      </p:cxnSp>
      <p:sp>
        <p:nvSpPr>
          <p:cNvPr id="21" name="TextBox 19"/>
          <p:cNvSpPr txBox="1"/>
          <p:nvPr/>
        </p:nvSpPr>
        <p:spPr>
          <a:xfrm>
            <a:off x="6262044" y="3482002"/>
            <a:ext cx="13156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 err="1"/>
              <a:t>Needed</a:t>
            </a:r>
            <a:r>
              <a:rPr lang="it-IT" sz="1400" i="1" dirty="0"/>
              <a:t> Device(s</a:t>
            </a:r>
            <a:r>
              <a:rPr lang="it-IT" sz="1400" i="1" dirty="0" smtClean="0"/>
              <a:t>)_2</a:t>
            </a:r>
            <a:endParaRPr lang="it-IT" sz="1400" i="1" dirty="0"/>
          </a:p>
          <a:p>
            <a:pPr algn="ctr"/>
            <a:r>
              <a:rPr lang="it-IT" sz="1400" i="1" dirty="0" smtClean="0"/>
              <a:t>1:10</a:t>
            </a:r>
            <a:endParaRPr lang="it-IT" sz="1400" i="1" dirty="0"/>
          </a:p>
        </p:txBody>
      </p:sp>
      <p:sp>
        <p:nvSpPr>
          <p:cNvPr id="22" name="TextBox 19"/>
          <p:cNvSpPr txBox="1"/>
          <p:nvPr/>
        </p:nvSpPr>
        <p:spPr>
          <a:xfrm>
            <a:off x="6741108" y="3066103"/>
            <a:ext cx="2234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 err="1" smtClean="0"/>
              <a:t>Needed</a:t>
            </a:r>
            <a:r>
              <a:rPr lang="it-IT" sz="1400" i="1" dirty="0" smtClean="0"/>
              <a:t> Device(s)_1</a:t>
            </a:r>
          </a:p>
          <a:p>
            <a:pPr algn="ctr"/>
            <a:r>
              <a:rPr lang="it-IT" sz="1400" i="1" dirty="0" smtClean="0"/>
              <a:t>1:30</a:t>
            </a:r>
            <a:endParaRPr lang="it-IT" sz="1400" i="1" dirty="0"/>
          </a:p>
        </p:txBody>
      </p:sp>
      <p:sp>
        <p:nvSpPr>
          <p:cNvPr id="24" name="TextBox 20"/>
          <p:cNvSpPr txBox="1"/>
          <p:nvPr/>
        </p:nvSpPr>
        <p:spPr>
          <a:xfrm>
            <a:off x="6199125" y="979699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600" i="1" dirty="0" smtClean="0"/>
              <a:t>Promotion</a:t>
            </a:r>
            <a:endParaRPr lang="it-IT" sz="1600" i="1" dirty="0"/>
          </a:p>
        </p:txBody>
      </p:sp>
      <p:sp>
        <p:nvSpPr>
          <p:cNvPr id="32" name="TextBox 20"/>
          <p:cNvSpPr txBox="1"/>
          <p:nvPr/>
        </p:nvSpPr>
        <p:spPr>
          <a:xfrm>
            <a:off x="3839544" y="2992158"/>
            <a:ext cx="872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400" i="1" dirty="0" smtClean="0"/>
              <a:t>Device by</a:t>
            </a:r>
          </a:p>
          <a:p>
            <a:pPr algn="ctr"/>
            <a:r>
              <a:rPr lang="it-IT" sz="1400" i="1" dirty="0" err="1" smtClean="0"/>
              <a:t>Category</a:t>
            </a:r>
            <a:endParaRPr lang="it-IT" sz="1400" i="1" dirty="0"/>
          </a:p>
        </p:txBody>
      </p:sp>
      <p:sp>
        <p:nvSpPr>
          <p:cNvPr id="46" name="TextBox 17"/>
          <p:cNvSpPr txBox="1"/>
          <p:nvPr/>
        </p:nvSpPr>
        <p:spPr>
          <a:xfrm>
            <a:off x="5050849" y="5381517"/>
            <a:ext cx="21519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smtClean="0"/>
              <a:t>Assistance Service  [50]</a:t>
            </a:r>
          </a:p>
        </p:txBody>
      </p:sp>
      <p:sp>
        <p:nvSpPr>
          <p:cNvPr id="47" name="Rettangolo 46"/>
          <p:cNvSpPr/>
          <p:nvPr/>
        </p:nvSpPr>
        <p:spPr>
          <a:xfrm>
            <a:off x="3252797" y="5165083"/>
            <a:ext cx="152112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i="1" dirty="0" smtClean="0"/>
              <a:t>Assistance </a:t>
            </a:r>
            <a:r>
              <a:rPr lang="it-IT" sz="1400" i="1" dirty="0"/>
              <a:t>S</a:t>
            </a:r>
            <a:r>
              <a:rPr lang="it-IT" sz="1400" i="1" dirty="0" smtClean="0"/>
              <a:t>ervices by </a:t>
            </a:r>
            <a:r>
              <a:rPr lang="it-IT" sz="1400" i="1" dirty="0" err="1" smtClean="0"/>
              <a:t>Category</a:t>
            </a:r>
            <a:endParaRPr lang="it-IT" sz="1400" i="1" dirty="0"/>
          </a:p>
        </p:txBody>
      </p:sp>
      <p:sp>
        <p:nvSpPr>
          <p:cNvPr id="48" name="Rettangolo 47"/>
          <p:cNvSpPr/>
          <p:nvPr/>
        </p:nvSpPr>
        <p:spPr>
          <a:xfrm>
            <a:off x="2030047" y="5167980"/>
            <a:ext cx="152112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i="1" dirty="0" err="1" smtClean="0"/>
              <a:t>All</a:t>
            </a:r>
            <a:r>
              <a:rPr lang="it-IT" sz="1400" i="1" dirty="0" smtClean="0"/>
              <a:t> Assistance Services </a:t>
            </a:r>
            <a:r>
              <a:rPr lang="it-IT" sz="1400" i="1" dirty="0" err="1"/>
              <a:t>c</a:t>
            </a:r>
            <a:r>
              <a:rPr lang="it-IT" sz="1400" i="1" dirty="0" err="1" smtClean="0"/>
              <a:t>ategories</a:t>
            </a:r>
            <a:endParaRPr lang="it-IT" sz="1400" i="1" dirty="0"/>
          </a:p>
        </p:txBody>
      </p:sp>
      <p:sp>
        <p:nvSpPr>
          <p:cNvPr id="50" name="Rettangolo 49"/>
          <p:cNvSpPr/>
          <p:nvPr/>
        </p:nvSpPr>
        <p:spPr>
          <a:xfrm>
            <a:off x="10801559" y="2908665"/>
            <a:ext cx="15211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i="1" dirty="0"/>
              <a:t>Promotion</a:t>
            </a:r>
          </a:p>
        </p:txBody>
      </p:sp>
      <p:sp>
        <p:nvSpPr>
          <p:cNvPr id="51" name="Rettangolo 50"/>
          <p:cNvSpPr/>
          <p:nvPr/>
        </p:nvSpPr>
        <p:spPr>
          <a:xfrm>
            <a:off x="9677708" y="4939466"/>
            <a:ext cx="15211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i="1" dirty="0" err="1" smtClean="0"/>
              <a:t>All</a:t>
            </a:r>
            <a:r>
              <a:rPr lang="it-IT" sz="1400" i="1" dirty="0" smtClean="0"/>
              <a:t> Smart Life </a:t>
            </a:r>
            <a:r>
              <a:rPr lang="it-IT" sz="1400" i="1" dirty="0" err="1" smtClean="0"/>
              <a:t>categories</a:t>
            </a:r>
            <a:endParaRPr lang="it-IT" sz="1400" i="1" dirty="0"/>
          </a:p>
        </p:txBody>
      </p:sp>
      <p:sp>
        <p:nvSpPr>
          <p:cNvPr id="52" name="Rettangolo 51"/>
          <p:cNvSpPr/>
          <p:nvPr/>
        </p:nvSpPr>
        <p:spPr>
          <a:xfrm>
            <a:off x="9623226" y="3846695"/>
            <a:ext cx="15211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i="1" dirty="0" smtClean="0"/>
              <a:t>Smart Life by </a:t>
            </a:r>
            <a:r>
              <a:rPr lang="it-IT" sz="1400" i="1" dirty="0" err="1" smtClean="0"/>
              <a:t>Category</a:t>
            </a:r>
            <a:endParaRPr lang="it-IT" sz="1400" i="1" dirty="0"/>
          </a:p>
        </p:txBody>
      </p:sp>
      <p:sp>
        <p:nvSpPr>
          <p:cNvPr id="54" name="Rounded Rectangle 29"/>
          <p:cNvSpPr/>
          <p:nvPr/>
        </p:nvSpPr>
        <p:spPr>
          <a:xfrm>
            <a:off x="551329" y="1241950"/>
            <a:ext cx="1972822" cy="11725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56" name="Rounded Rectangle 29"/>
          <p:cNvSpPr/>
          <p:nvPr/>
        </p:nvSpPr>
        <p:spPr>
          <a:xfrm>
            <a:off x="2768144" y="1234490"/>
            <a:ext cx="2053076" cy="117999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400" dirty="0" smtClean="0">
              <a:solidFill>
                <a:schemeClr val="tx1"/>
              </a:solidFill>
            </a:endParaRPr>
          </a:p>
        </p:txBody>
      </p:sp>
      <p:grpSp>
        <p:nvGrpSpPr>
          <p:cNvPr id="89" name="Group 31"/>
          <p:cNvGrpSpPr/>
          <p:nvPr/>
        </p:nvGrpSpPr>
        <p:grpSpPr>
          <a:xfrm>
            <a:off x="3747461" y="4700635"/>
            <a:ext cx="481515" cy="526609"/>
            <a:chOff x="6257635" y="827263"/>
            <a:chExt cx="2516909" cy="2898229"/>
          </a:xfrm>
        </p:grpSpPr>
        <p:sp>
          <p:nvSpPr>
            <p:cNvPr id="90" name="Oval 30"/>
            <p:cNvSpPr/>
            <p:nvPr/>
          </p:nvSpPr>
          <p:spPr>
            <a:xfrm>
              <a:off x="6366165" y="827263"/>
              <a:ext cx="2304473" cy="2370831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grpSp>
          <p:nvGrpSpPr>
            <p:cNvPr id="91" name="Group 4"/>
            <p:cNvGrpSpPr/>
            <p:nvPr/>
          </p:nvGrpSpPr>
          <p:grpSpPr>
            <a:xfrm>
              <a:off x="6502099" y="915161"/>
              <a:ext cx="2043964" cy="2185649"/>
              <a:chOff x="4114800" y="2590800"/>
              <a:chExt cx="1524000" cy="1535668"/>
            </a:xfrm>
          </p:grpSpPr>
          <p:sp>
            <p:nvSpPr>
              <p:cNvPr id="93" name="Oval 26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4" name="Straight Connector 27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28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29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Chord 25"/>
            <p:cNvSpPr/>
            <p:nvPr/>
          </p:nvSpPr>
          <p:spPr>
            <a:xfrm>
              <a:off x="6257635" y="838200"/>
              <a:ext cx="2516909" cy="288729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</p:grpSp>
      <p:grpSp>
        <p:nvGrpSpPr>
          <p:cNvPr id="105" name="Group 11"/>
          <p:cNvGrpSpPr/>
          <p:nvPr/>
        </p:nvGrpSpPr>
        <p:grpSpPr>
          <a:xfrm>
            <a:off x="5789567" y="6166552"/>
            <a:ext cx="436824" cy="516408"/>
            <a:chOff x="4318000" y="2493818"/>
            <a:chExt cx="2921000" cy="3297382"/>
          </a:xfrm>
        </p:grpSpPr>
        <p:grpSp>
          <p:nvGrpSpPr>
            <p:cNvPr id="106" name="Group 4"/>
            <p:cNvGrpSpPr/>
            <p:nvPr/>
          </p:nvGrpSpPr>
          <p:grpSpPr>
            <a:xfrm>
              <a:off x="4450379" y="2515092"/>
              <a:ext cx="2671089" cy="2496083"/>
              <a:chOff x="4114800" y="2590800"/>
              <a:chExt cx="1524000" cy="1535668"/>
            </a:xfrm>
          </p:grpSpPr>
          <p:sp>
            <p:nvSpPr>
              <p:cNvPr id="108" name="Oval 5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109" name="Straight Connector 6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7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8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Chord 9"/>
            <p:cNvSpPr/>
            <p:nvPr/>
          </p:nvSpPr>
          <p:spPr>
            <a:xfrm>
              <a:off x="4318000" y="2493818"/>
              <a:ext cx="2921000" cy="329738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12" name="Left Arrow 74"/>
          <p:cNvSpPr/>
          <p:nvPr/>
        </p:nvSpPr>
        <p:spPr>
          <a:xfrm rot="5400000">
            <a:off x="5771471" y="5726177"/>
            <a:ext cx="473017" cy="303043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21" name="CasellaDiTesto 120"/>
          <p:cNvSpPr txBox="1"/>
          <p:nvPr/>
        </p:nvSpPr>
        <p:spPr>
          <a:xfrm>
            <a:off x="424071" y="216123"/>
            <a:ext cx="1113182" cy="457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smtClean="0"/>
              <a:t>L-IDM</a:t>
            </a:r>
          </a:p>
        </p:txBody>
      </p:sp>
      <p:grpSp>
        <p:nvGrpSpPr>
          <p:cNvPr id="122" name="Group 26"/>
          <p:cNvGrpSpPr/>
          <p:nvPr/>
        </p:nvGrpSpPr>
        <p:grpSpPr>
          <a:xfrm>
            <a:off x="5565589" y="3608232"/>
            <a:ext cx="343224" cy="366612"/>
            <a:chOff x="4114800" y="2590800"/>
            <a:chExt cx="1524000" cy="1535668"/>
          </a:xfrm>
        </p:grpSpPr>
        <p:sp>
          <p:nvSpPr>
            <p:cNvPr id="123" name="Oval 20"/>
            <p:cNvSpPr/>
            <p:nvPr/>
          </p:nvSpPr>
          <p:spPr>
            <a:xfrm>
              <a:off x="4114800" y="2590800"/>
              <a:ext cx="1524000" cy="153566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cxnSp>
          <p:nvCxnSpPr>
            <p:cNvPr id="124" name="Straight Connector 23"/>
            <p:cNvCxnSpPr/>
            <p:nvPr/>
          </p:nvCxnSpPr>
          <p:spPr>
            <a:xfrm>
              <a:off x="4419600" y="3048000"/>
              <a:ext cx="9144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24"/>
            <p:cNvCxnSpPr/>
            <p:nvPr/>
          </p:nvCxnSpPr>
          <p:spPr>
            <a:xfrm>
              <a:off x="4419600" y="3429000"/>
              <a:ext cx="9144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25"/>
            <p:cNvCxnSpPr/>
            <p:nvPr/>
          </p:nvCxnSpPr>
          <p:spPr>
            <a:xfrm>
              <a:off x="4419600" y="3733800"/>
              <a:ext cx="9144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26"/>
          <p:cNvGrpSpPr/>
          <p:nvPr/>
        </p:nvGrpSpPr>
        <p:grpSpPr>
          <a:xfrm>
            <a:off x="6130480" y="3608232"/>
            <a:ext cx="343224" cy="366612"/>
            <a:chOff x="4114800" y="2590800"/>
            <a:chExt cx="1524000" cy="1535668"/>
          </a:xfrm>
        </p:grpSpPr>
        <p:sp>
          <p:nvSpPr>
            <p:cNvPr id="131" name="Oval 20"/>
            <p:cNvSpPr/>
            <p:nvPr/>
          </p:nvSpPr>
          <p:spPr>
            <a:xfrm>
              <a:off x="4114800" y="2590800"/>
              <a:ext cx="1524000" cy="153566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cxnSp>
          <p:nvCxnSpPr>
            <p:cNvPr id="132" name="Straight Connector 23"/>
            <p:cNvCxnSpPr/>
            <p:nvPr/>
          </p:nvCxnSpPr>
          <p:spPr>
            <a:xfrm>
              <a:off x="4419600" y="3048000"/>
              <a:ext cx="9144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24"/>
            <p:cNvCxnSpPr/>
            <p:nvPr/>
          </p:nvCxnSpPr>
          <p:spPr>
            <a:xfrm>
              <a:off x="4419600" y="3429000"/>
              <a:ext cx="9144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25"/>
            <p:cNvCxnSpPr/>
            <p:nvPr/>
          </p:nvCxnSpPr>
          <p:spPr>
            <a:xfrm>
              <a:off x="4419600" y="3733800"/>
              <a:ext cx="9144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" name="Group 26"/>
          <p:cNvGrpSpPr/>
          <p:nvPr/>
        </p:nvGrpSpPr>
        <p:grpSpPr>
          <a:xfrm>
            <a:off x="7622694" y="2763960"/>
            <a:ext cx="358526" cy="343391"/>
            <a:chOff x="4114800" y="2590800"/>
            <a:chExt cx="1524000" cy="1535668"/>
          </a:xfrm>
        </p:grpSpPr>
        <p:sp>
          <p:nvSpPr>
            <p:cNvPr id="169" name="Oval 20"/>
            <p:cNvSpPr/>
            <p:nvPr/>
          </p:nvSpPr>
          <p:spPr>
            <a:xfrm>
              <a:off x="4114800" y="2590800"/>
              <a:ext cx="1524000" cy="153566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cxnSp>
          <p:nvCxnSpPr>
            <p:cNvPr id="170" name="Straight Connector 23"/>
            <p:cNvCxnSpPr/>
            <p:nvPr/>
          </p:nvCxnSpPr>
          <p:spPr>
            <a:xfrm>
              <a:off x="4419600" y="3048000"/>
              <a:ext cx="9144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24"/>
            <p:cNvCxnSpPr/>
            <p:nvPr/>
          </p:nvCxnSpPr>
          <p:spPr>
            <a:xfrm>
              <a:off x="4419600" y="3429000"/>
              <a:ext cx="9144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25"/>
            <p:cNvCxnSpPr/>
            <p:nvPr/>
          </p:nvCxnSpPr>
          <p:spPr>
            <a:xfrm>
              <a:off x="4419600" y="3733800"/>
              <a:ext cx="9144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26"/>
          <p:cNvGrpSpPr/>
          <p:nvPr/>
        </p:nvGrpSpPr>
        <p:grpSpPr>
          <a:xfrm>
            <a:off x="7637055" y="2370034"/>
            <a:ext cx="358526" cy="343391"/>
            <a:chOff x="4114800" y="2590800"/>
            <a:chExt cx="1524000" cy="1535668"/>
          </a:xfrm>
        </p:grpSpPr>
        <p:sp>
          <p:nvSpPr>
            <p:cNvPr id="177" name="Oval 20"/>
            <p:cNvSpPr/>
            <p:nvPr/>
          </p:nvSpPr>
          <p:spPr>
            <a:xfrm>
              <a:off x="4114800" y="2590800"/>
              <a:ext cx="1524000" cy="153566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cxnSp>
          <p:nvCxnSpPr>
            <p:cNvPr id="178" name="Straight Connector 23"/>
            <p:cNvCxnSpPr/>
            <p:nvPr/>
          </p:nvCxnSpPr>
          <p:spPr>
            <a:xfrm>
              <a:off x="4419600" y="3048000"/>
              <a:ext cx="9144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24"/>
            <p:cNvCxnSpPr/>
            <p:nvPr/>
          </p:nvCxnSpPr>
          <p:spPr>
            <a:xfrm>
              <a:off x="4419600" y="3429000"/>
              <a:ext cx="9144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25"/>
            <p:cNvCxnSpPr/>
            <p:nvPr/>
          </p:nvCxnSpPr>
          <p:spPr>
            <a:xfrm>
              <a:off x="4419600" y="3733800"/>
              <a:ext cx="9144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" name="Oval 34"/>
          <p:cNvSpPr/>
          <p:nvPr/>
        </p:nvSpPr>
        <p:spPr>
          <a:xfrm>
            <a:off x="5275627" y="4950924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grpSp>
        <p:nvGrpSpPr>
          <p:cNvPr id="185" name="Group 11"/>
          <p:cNvGrpSpPr/>
          <p:nvPr/>
        </p:nvGrpSpPr>
        <p:grpSpPr>
          <a:xfrm>
            <a:off x="2579185" y="4715580"/>
            <a:ext cx="436824" cy="516408"/>
            <a:chOff x="4318000" y="2493818"/>
            <a:chExt cx="2921000" cy="3297382"/>
          </a:xfrm>
        </p:grpSpPr>
        <p:grpSp>
          <p:nvGrpSpPr>
            <p:cNvPr id="186" name="Group 4"/>
            <p:cNvGrpSpPr/>
            <p:nvPr/>
          </p:nvGrpSpPr>
          <p:grpSpPr>
            <a:xfrm>
              <a:off x="4450379" y="2515092"/>
              <a:ext cx="2671089" cy="2496083"/>
              <a:chOff x="4114800" y="2590800"/>
              <a:chExt cx="1524000" cy="1535668"/>
            </a:xfrm>
          </p:grpSpPr>
          <p:sp>
            <p:nvSpPr>
              <p:cNvPr id="188" name="Oval 5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189" name="Straight Connector 6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7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8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7" name="Chord 9"/>
            <p:cNvSpPr/>
            <p:nvPr/>
          </p:nvSpPr>
          <p:spPr>
            <a:xfrm>
              <a:off x="4318000" y="2493818"/>
              <a:ext cx="2921000" cy="329738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92" name="Left Arrow 74"/>
          <p:cNvSpPr/>
          <p:nvPr/>
        </p:nvSpPr>
        <p:spPr>
          <a:xfrm rot="10800000">
            <a:off x="4331963" y="4765685"/>
            <a:ext cx="473017" cy="303043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93" name="Left Arrow 74"/>
          <p:cNvSpPr/>
          <p:nvPr/>
        </p:nvSpPr>
        <p:spPr>
          <a:xfrm rot="10800000">
            <a:off x="3107447" y="4768682"/>
            <a:ext cx="473017" cy="303043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grpSp>
        <p:nvGrpSpPr>
          <p:cNvPr id="205" name="Group 11"/>
          <p:cNvGrpSpPr/>
          <p:nvPr/>
        </p:nvGrpSpPr>
        <p:grpSpPr>
          <a:xfrm>
            <a:off x="2886805" y="2557464"/>
            <a:ext cx="436824" cy="516408"/>
            <a:chOff x="4318000" y="2493818"/>
            <a:chExt cx="2921000" cy="3297382"/>
          </a:xfrm>
        </p:grpSpPr>
        <p:grpSp>
          <p:nvGrpSpPr>
            <p:cNvPr id="206" name="Group 4"/>
            <p:cNvGrpSpPr/>
            <p:nvPr/>
          </p:nvGrpSpPr>
          <p:grpSpPr>
            <a:xfrm>
              <a:off x="4450379" y="2515092"/>
              <a:ext cx="2671089" cy="2496083"/>
              <a:chOff x="4114800" y="2590800"/>
              <a:chExt cx="1524000" cy="1535668"/>
            </a:xfrm>
          </p:grpSpPr>
          <p:sp>
            <p:nvSpPr>
              <p:cNvPr id="208" name="Oval 5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209" name="Straight Connector 6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7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8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7" name="Chord 9"/>
            <p:cNvSpPr/>
            <p:nvPr/>
          </p:nvSpPr>
          <p:spPr>
            <a:xfrm>
              <a:off x="4318000" y="2493818"/>
              <a:ext cx="2921000" cy="329738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20" name="Group 31"/>
          <p:cNvGrpSpPr/>
          <p:nvPr/>
        </p:nvGrpSpPr>
        <p:grpSpPr>
          <a:xfrm>
            <a:off x="3996357" y="2530939"/>
            <a:ext cx="481515" cy="526609"/>
            <a:chOff x="6257635" y="827263"/>
            <a:chExt cx="2516909" cy="2898229"/>
          </a:xfrm>
        </p:grpSpPr>
        <p:sp>
          <p:nvSpPr>
            <p:cNvPr id="221" name="Oval 30"/>
            <p:cNvSpPr/>
            <p:nvPr/>
          </p:nvSpPr>
          <p:spPr>
            <a:xfrm>
              <a:off x="6366165" y="827263"/>
              <a:ext cx="2304473" cy="2370831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grpSp>
          <p:nvGrpSpPr>
            <p:cNvPr id="222" name="Group 4"/>
            <p:cNvGrpSpPr/>
            <p:nvPr/>
          </p:nvGrpSpPr>
          <p:grpSpPr>
            <a:xfrm>
              <a:off x="6502099" y="915161"/>
              <a:ext cx="2043964" cy="2185649"/>
              <a:chOff x="4114800" y="2590800"/>
              <a:chExt cx="1524000" cy="1535668"/>
            </a:xfrm>
          </p:grpSpPr>
          <p:sp>
            <p:nvSpPr>
              <p:cNvPr id="224" name="Oval 26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5" name="Straight Connector 27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8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9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3" name="Chord 25"/>
            <p:cNvSpPr/>
            <p:nvPr/>
          </p:nvSpPr>
          <p:spPr>
            <a:xfrm>
              <a:off x="6257635" y="838200"/>
              <a:ext cx="2516909" cy="288729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</p:grpSp>
      <p:sp>
        <p:nvSpPr>
          <p:cNvPr id="228" name="Left Arrow 74"/>
          <p:cNvSpPr/>
          <p:nvPr/>
        </p:nvSpPr>
        <p:spPr>
          <a:xfrm rot="10800000">
            <a:off x="3443442" y="2612438"/>
            <a:ext cx="473017" cy="303043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29" name="Left Arrow 74"/>
          <p:cNvSpPr/>
          <p:nvPr/>
        </p:nvSpPr>
        <p:spPr>
          <a:xfrm rot="10800000">
            <a:off x="4441816" y="2593954"/>
            <a:ext cx="473017" cy="303043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grpSp>
        <p:nvGrpSpPr>
          <p:cNvPr id="230" name="Group 11"/>
          <p:cNvGrpSpPr/>
          <p:nvPr/>
        </p:nvGrpSpPr>
        <p:grpSpPr>
          <a:xfrm>
            <a:off x="5819602" y="939420"/>
            <a:ext cx="436824" cy="516408"/>
            <a:chOff x="4318000" y="2493818"/>
            <a:chExt cx="2921000" cy="3297382"/>
          </a:xfrm>
        </p:grpSpPr>
        <p:grpSp>
          <p:nvGrpSpPr>
            <p:cNvPr id="231" name="Group 4"/>
            <p:cNvGrpSpPr/>
            <p:nvPr/>
          </p:nvGrpSpPr>
          <p:grpSpPr>
            <a:xfrm>
              <a:off x="4450379" y="2515092"/>
              <a:ext cx="2671089" cy="2496083"/>
              <a:chOff x="4114800" y="2590800"/>
              <a:chExt cx="1524000" cy="1535668"/>
            </a:xfrm>
          </p:grpSpPr>
          <p:sp>
            <p:nvSpPr>
              <p:cNvPr id="233" name="Oval 5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234" name="Straight Connector 6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7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8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2" name="Chord 9"/>
            <p:cNvSpPr/>
            <p:nvPr/>
          </p:nvSpPr>
          <p:spPr>
            <a:xfrm>
              <a:off x="4318000" y="2493818"/>
              <a:ext cx="2921000" cy="329738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37" name="Left Arrow 74"/>
          <p:cNvSpPr/>
          <p:nvPr/>
        </p:nvSpPr>
        <p:spPr>
          <a:xfrm rot="16200000">
            <a:off x="5801506" y="1497904"/>
            <a:ext cx="473017" cy="303043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41" name="Rounded Rectangle 7"/>
          <p:cNvSpPr/>
          <p:nvPr/>
        </p:nvSpPr>
        <p:spPr>
          <a:xfrm>
            <a:off x="8776645" y="2229371"/>
            <a:ext cx="1961322" cy="10291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42" name="Rounded Rectangle 7"/>
          <p:cNvSpPr/>
          <p:nvPr/>
        </p:nvSpPr>
        <p:spPr>
          <a:xfrm>
            <a:off x="8859611" y="2297453"/>
            <a:ext cx="1816042" cy="89077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grpSp>
        <p:nvGrpSpPr>
          <p:cNvPr id="243" name="Group 11"/>
          <p:cNvGrpSpPr/>
          <p:nvPr/>
        </p:nvGrpSpPr>
        <p:grpSpPr>
          <a:xfrm>
            <a:off x="9440210" y="4973784"/>
            <a:ext cx="436824" cy="516408"/>
            <a:chOff x="4318000" y="2493818"/>
            <a:chExt cx="2921000" cy="3297382"/>
          </a:xfrm>
        </p:grpSpPr>
        <p:grpSp>
          <p:nvGrpSpPr>
            <p:cNvPr id="244" name="Group 4"/>
            <p:cNvGrpSpPr/>
            <p:nvPr/>
          </p:nvGrpSpPr>
          <p:grpSpPr>
            <a:xfrm>
              <a:off x="4450379" y="2515092"/>
              <a:ext cx="2671089" cy="2496083"/>
              <a:chOff x="4114800" y="2590800"/>
              <a:chExt cx="1524000" cy="1535668"/>
            </a:xfrm>
          </p:grpSpPr>
          <p:sp>
            <p:nvSpPr>
              <p:cNvPr id="246" name="Oval 5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247" name="Straight Connector 6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7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8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5" name="Chord 9"/>
            <p:cNvSpPr/>
            <p:nvPr/>
          </p:nvSpPr>
          <p:spPr>
            <a:xfrm>
              <a:off x="4318000" y="2493818"/>
              <a:ext cx="2921000" cy="329738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50" name="Group 11"/>
          <p:cNvGrpSpPr/>
          <p:nvPr/>
        </p:nvGrpSpPr>
        <p:grpSpPr>
          <a:xfrm>
            <a:off x="11321474" y="2530939"/>
            <a:ext cx="436824" cy="516408"/>
            <a:chOff x="4318000" y="2493818"/>
            <a:chExt cx="2921000" cy="3297382"/>
          </a:xfrm>
        </p:grpSpPr>
        <p:grpSp>
          <p:nvGrpSpPr>
            <p:cNvPr id="251" name="Group 4"/>
            <p:cNvGrpSpPr/>
            <p:nvPr/>
          </p:nvGrpSpPr>
          <p:grpSpPr>
            <a:xfrm>
              <a:off x="4450379" y="2515092"/>
              <a:ext cx="2671089" cy="2496083"/>
              <a:chOff x="4114800" y="2590800"/>
              <a:chExt cx="1524000" cy="1535668"/>
            </a:xfrm>
          </p:grpSpPr>
          <p:sp>
            <p:nvSpPr>
              <p:cNvPr id="253" name="Oval 5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254" name="Straight Connector 6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7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8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2" name="Chord 9"/>
            <p:cNvSpPr/>
            <p:nvPr/>
          </p:nvSpPr>
          <p:spPr>
            <a:xfrm>
              <a:off x="4318000" y="2493818"/>
              <a:ext cx="2921000" cy="329738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57" name="Left Arrow 74"/>
          <p:cNvSpPr/>
          <p:nvPr/>
        </p:nvSpPr>
        <p:spPr>
          <a:xfrm>
            <a:off x="10755543" y="2588812"/>
            <a:ext cx="473017" cy="303043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grpSp>
        <p:nvGrpSpPr>
          <p:cNvPr id="258" name="Group 31"/>
          <p:cNvGrpSpPr/>
          <p:nvPr/>
        </p:nvGrpSpPr>
        <p:grpSpPr>
          <a:xfrm>
            <a:off x="9433005" y="3901102"/>
            <a:ext cx="481515" cy="526609"/>
            <a:chOff x="6257635" y="827263"/>
            <a:chExt cx="2516909" cy="2898229"/>
          </a:xfrm>
        </p:grpSpPr>
        <p:sp>
          <p:nvSpPr>
            <p:cNvPr id="259" name="Oval 30"/>
            <p:cNvSpPr/>
            <p:nvPr/>
          </p:nvSpPr>
          <p:spPr>
            <a:xfrm>
              <a:off x="6366165" y="827263"/>
              <a:ext cx="2304473" cy="2370831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grpSp>
          <p:nvGrpSpPr>
            <p:cNvPr id="260" name="Group 4"/>
            <p:cNvGrpSpPr/>
            <p:nvPr/>
          </p:nvGrpSpPr>
          <p:grpSpPr>
            <a:xfrm>
              <a:off x="6502099" y="915161"/>
              <a:ext cx="2043964" cy="2185649"/>
              <a:chOff x="4114800" y="2590800"/>
              <a:chExt cx="1524000" cy="1535668"/>
            </a:xfrm>
          </p:grpSpPr>
          <p:sp>
            <p:nvSpPr>
              <p:cNvPr id="262" name="Oval 26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63" name="Straight Connector 27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8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9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1" name="Chord 25"/>
            <p:cNvSpPr/>
            <p:nvPr/>
          </p:nvSpPr>
          <p:spPr>
            <a:xfrm>
              <a:off x="6257635" y="838200"/>
              <a:ext cx="2516909" cy="288729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</p:grpSp>
      <p:sp>
        <p:nvSpPr>
          <p:cNvPr id="266" name="Left Arrow 74"/>
          <p:cNvSpPr/>
          <p:nvPr/>
        </p:nvSpPr>
        <p:spPr>
          <a:xfrm rot="5400000">
            <a:off x="9421579" y="4495337"/>
            <a:ext cx="473017" cy="303043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67" name="Left Arrow 74"/>
          <p:cNvSpPr/>
          <p:nvPr/>
        </p:nvSpPr>
        <p:spPr>
          <a:xfrm rot="5400000">
            <a:off x="9422113" y="3451035"/>
            <a:ext cx="473017" cy="303043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3105217" y="1234490"/>
            <a:ext cx="169918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u="sng" dirty="0"/>
              <a:t>Presentation</a:t>
            </a:r>
          </a:p>
          <a:p>
            <a:r>
              <a:rPr lang="it-IT" sz="1400" dirty="0"/>
              <a:t>News</a:t>
            </a:r>
          </a:p>
          <a:p>
            <a:r>
              <a:rPr lang="it-IT" sz="1400" dirty="0" err="1"/>
              <a:t>Governance</a:t>
            </a:r>
            <a:endParaRPr lang="it-IT" sz="1400" dirty="0"/>
          </a:p>
          <a:p>
            <a:r>
              <a:rPr lang="it-IT" sz="1400" dirty="0"/>
              <a:t>Business and Market</a:t>
            </a:r>
          </a:p>
          <a:p>
            <a:r>
              <a:rPr lang="it-IT" sz="1400" dirty="0" smtClean="0"/>
              <a:t>For </a:t>
            </a:r>
            <a:r>
              <a:rPr lang="it-IT" sz="1400" dirty="0" err="1" smtClean="0"/>
              <a:t>Investors</a:t>
            </a:r>
            <a:endParaRPr lang="it-IT" sz="1400" dirty="0"/>
          </a:p>
        </p:txBody>
      </p:sp>
      <p:sp>
        <p:nvSpPr>
          <p:cNvPr id="17" name="CasellaDiTesto 16"/>
          <p:cNvSpPr txBox="1"/>
          <p:nvPr/>
        </p:nvSpPr>
        <p:spPr>
          <a:xfrm>
            <a:off x="914754" y="1460373"/>
            <a:ext cx="10900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u="sng" dirty="0" err="1" smtClean="0"/>
              <a:t>Innovation</a:t>
            </a:r>
            <a:endParaRPr lang="it-IT" sz="1400" u="sng" dirty="0" smtClean="0"/>
          </a:p>
          <a:p>
            <a:r>
              <a:rPr lang="it-IT" sz="1400" dirty="0" smtClean="0"/>
              <a:t>Testimonials</a:t>
            </a:r>
          </a:p>
          <a:p>
            <a:r>
              <a:rPr lang="it-IT" sz="1400" dirty="0" smtClean="0"/>
              <a:t>Project</a:t>
            </a:r>
            <a:endParaRPr lang="it-IT" sz="1400" dirty="0"/>
          </a:p>
          <a:p>
            <a:endParaRPr lang="it-IT" sz="1400" dirty="0"/>
          </a:p>
        </p:txBody>
      </p:sp>
      <p:sp>
        <p:nvSpPr>
          <p:cNvPr id="25" name="CasellaDiTesto 24"/>
          <p:cNvSpPr txBox="1"/>
          <p:nvPr/>
        </p:nvSpPr>
        <p:spPr>
          <a:xfrm>
            <a:off x="9065201" y="2371001"/>
            <a:ext cx="16727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u="sng" dirty="0" err="1" smtClean="0"/>
              <a:t>Description</a:t>
            </a:r>
            <a:endParaRPr lang="it-IT" sz="1400" u="sng" dirty="0" smtClean="0"/>
          </a:p>
          <a:p>
            <a:r>
              <a:rPr lang="it-IT" sz="1400" dirty="0" err="1" smtClean="0"/>
              <a:t>Activation</a:t>
            </a:r>
            <a:r>
              <a:rPr lang="it-IT" sz="1400" dirty="0" smtClean="0"/>
              <a:t> and </a:t>
            </a:r>
            <a:r>
              <a:rPr lang="it-IT" sz="1400" dirty="0" err="1" smtClean="0"/>
              <a:t>Rules</a:t>
            </a:r>
            <a:endParaRPr lang="it-IT" sz="1400" dirty="0" smtClean="0"/>
          </a:p>
          <a:p>
            <a:r>
              <a:rPr lang="it-IT" sz="1400" dirty="0" smtClean="0"/>
              <a:t>FAQ</a:t>
            </a:r>
          </a:p>
        </p:txBody>
      </p:sp>
      <p:sp>
        <p:nvSpPr>
          <p:cNvPr id="274" name="Rounded Rectangle 7"/>
          <p:cNvSpPr/>
          <p:nvPr/>
        </p:nvSpPr>
        <p:spPr>
          <a:xfrm>
            <a:off x="4961213" y="2238994"/>
            <a:ext cx="2027428" cy="10291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75" name="Rounded Rectangle 7"/>
          <p:cNvSpPr/>
          <p:nvPr/>
        </p:nvSpPr>
        <p:spPr>
          <a:xfrm>
            <a:off x="5026810" y="2307076"/>
            <a:ext cx="1899517" cy="89077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76" name="Rounded Rectangle 7"/>
          <p:cNvSpPr/>
          <p:nvPr/>
        </p:nvSpPr>
        <p:spPr>
          <a:xfrm>
            <a:off x="4942791" y="4416986"/>
            <a:ext cx="2058798" cy="10291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77" name="Rounded Rectangle 7"/>
          <p:cNvSpPr/>
          <p:nvPr/>
        </p:nvSpPr>
        <p:spPr>
          <a:xfrm>
            <a:off x="5004724" y="4485068"/>
            <a:ext cx="1934551" cy="89077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3" name="CasellaDiTesto 22"/>
          <p:cNvSpPr txBox="1"/>
          <p:nvPr/>
        </p:nvSpPr>
        <p:spPr>
          <a:xfrm>
            <a:off x="5057616" y="2462074"/>
            <a:ext cx="1949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u="sng" dirty="0" smtClean="0"/>
              <a:t>Presentation</a:t>
            </a:r>
          </a:p>
          <a:p>
            <a:r>
              <a:rPr lang="it-IT" sz="1400" dirty="0" smtClean="0"/>
              <a:t>Technical </a:t>
            </a:r>
            <a:r>
              <a:rPr lang="it-IT" sz="1400" dirty="0" err="1" smtClean="0"/>
              <a:t>characteristics</a:t>
            </a:r>
            <a:endParaRPr lang="it-IT" sz="1400" dirty="0"/>
          </a:p>
        </p:txBody>
      </p:sp>
      <p:sp>
        <p:nvSpPr>
          <p:cNvPr id="26" name="CasellaDiTesto 25"/>
          <p:cNvSpPr txBox="1"/>
          <p:nvPr/>
        </p:nvSpPr>
        <p:spPr>
          <a:xfrm>
            <a:off x="5362125" y="4765685"/>
            <a:ext cx="1020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u="sng" dirty="0" err="1" smtClean="0"/>
              <a:t>Description</a:t>
            </a:r>
            <a:endParaRPr lang="it-IT" sz="1400" u="sng" dirty="0"/>
          </a:p>
        </p:txBody>
      </p:sp>
      <p:sp>
        <p:nvSpPr>
          <p:cNvPr id="280" name="Oval 34"/>
          <p:cNvSpPr/>
          <p:nvPr/>
        </p:nvSpPr>
        <p:spPr>
          <a:xfrm>
            <a:off x="5252064" y="4910090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86" name="Oval 34"/>
          <p:cNvSpPr/>
          <p:nvPr/>
        </p:nvSpPr>
        <p:spPr>
          <a:xfrm>
            <a:off x="782956" y="1598529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87" name="Oval 34"/>
          <p:cNvSpPr/>
          <p:nvPr/>
        </p:nvSpPr>
        <p:spPr>
          <a:xfrm>
            <a:off x="8986724" y="2525993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88" name="Oval 34"/>
          <p:cNvSpPr/>
          <p:nvPr/>
        </p:nvSpPr>
        <p:spPr>
          <a:xfrm>
            <a:off x="8985311" y="274516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89" name="Oval 34"/>
          <p:cNvSpPr/>
          <p:nvPr/>
        </p:nvSpPr>
        <p:spPr>
          <a:xfrm>
            <a:off x="8985311" y="29262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90" name="Oval 34"/>
          <p:cNvSpPr/>
          <p:nvPr/>
        </p:nvSpPr>
        <p:spPr>
          <a:xfrm>
            <a:off x="3022181" y="1380853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91" name="Oval 34"/>
          <p:cNvSpPr/>
          <p:nvPr/>
        </p:nvSpPr>
        <p:spPr>
          <a:xfrm>
            <a:off x="3022181" y="1573044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92" name="Oval 34"/>
          <p:cNvSpPr/>
          <p:nvPr/>
        </p:nvSpPr>
        <p:spPr>
          <a:xfrm>
            <a:off x="3022181" y="17787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94" name="Oval 34"/>
          <p:cNvSpPr/>
          <p:nvPr/>
        </p:nvSpPr>
        <p:spPr>
          <a:xfrm>
            <a:off x="3022180" y="1972298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95" name="Oval 34"/>
          <p:cNvSpPr/>
          <p:nvPr/>
        </p:nvSpPr>
        <p:spPr>
          <a:xfrm>
            <a:off x="3022179" y="2177218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96" name="Oval 34"/>
          <p:cNvSpPr/>
          <p:nvPr/>
        </p:nvSpPr>
        <p:spPr>
          <a:xfrm>
            <a:off x="777332" y="1805355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297" name="Oval 34"/>
          <p:cNvSpPr/>
          <p:nvPr/>
        </p:nvSpPr>
        <p:spPr>
          <a:xfrm>
            <a:off x="777332" y="2021884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303" name="Oval 34"/>
          <p:cNvSpPr/>
          <p:nvPr/>
        </p:nvSpPr>
        <p:spPr>
          <a:xfrm>
            <a:off x="5061534" y="2798349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310" name="Oval 34"/>
          <p:cNvSpPr/>
          <p:nvPr/>
        </p:nvSpPr>
        <p:spPr>
          <a:xfrm>
            <a:off x="5057616" y="2605163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xmlns="" val="110174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Single Corner Rectangle 86"/>
          <p:cNvSpPr/>
          <p:nvPr/>
        </p:nvSpPr>
        <p:spPr>
          <a:xfrm>
            <a:off x="5280640" y="244568"/>
            <a:ext cx="682787" cy="804863"/>
          </a:xfrm>
          <a:prstGeom prst="snip1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97"/>
          <p:cNvSpPr txBox="1"/>
          <p:nvPr/>
        </p:nvSpPr>
        <p:spPr>
          <a:xfrm>
            <a:off x="5496664" y="532600"/>
            <a:ext cx="383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H</a:t>
            </a:r>
          </a:p>
        </p:txBody>
      </p:sp>
      <p:sp>
        <p:nvSpPr>
          <p:cNvPr id="7" name="Rectangle 23"/>
          <p:cNvSpPr/>
          <p:nvPr/>
        </p:nvSpPr>
        <p:spPr>
          <a:xfrm>
            <a:off x="289258" y="1122942"/>
            <a:ext cx="2505458" cy="2971781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ctangle 25"/>
          <p:cNvSpPr/>
          <p:nvPr/>
        </p:nvSpPr>
        <p:spPr>
          <a:xfrm>
            <a:off x="2024692" y="901932"/>
            <a:ext cx="542912" cy="19975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Snip Single Corner Rectangle 28"/>
          <p:cNvSpPr/>
          <p:nvPr/>
        </p:nvSpPr>
        <p:spPr>
          <a:xfrm>
            <a:off x="1102164" y="1251230"/>
            <a:ext cx="922528" cy="934877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100" dirty="0"/>
          </a:p>
        </p:txBody>
      </p:sp>
      <p:cxnSp>
        <p:nvCxnSpPr>
          <p:cNvPr id="10" name="Straight Arrow Connector 29"/>
          <p:cNvCxnSpPr>
            <a:stCxn id="8" idx="1"/>
          </p:cNvCxnSpPr>
          <p:nvPr/>
        </p:nvCxnSpPr>
        <p:spPr>
          <a:xfrm flipH="1">
            <a:off x="1655230" y="1001811"/>
            <a:ext cx="369462" cy="2903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50"/>
          <p:cNvSpPr txBox="1"/>
          <p:nvPr/>
        </p:nvSpPr>
        <p:spPr>
          <a:xfrm>
            <a:off x="317212" y="3301841"/>
            <a:ext cx="113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A2A</a:t>
            </a:r>
            <a:endParaRPr lang="en-US" dirty="0"/>
          </a:p>
        </p:txBody>
      </p:sp>
      <p:sp>
        <p:nvSpPr>
          <p:cNvPr id="15" name="Quad Arrow 121"/>
          <p:cNvSpPr/>
          <p:nvPr/>
        </p:nvSpPr>
        <p:spPr>
          <a:xfrm>
            <a:off x="81116" y="987928"/>
            <a:ext cx="629914" cy="608460"/>
          </a:xfrm>
          <a:prstGeom prst="quad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sellaDiTesto 15"/>
          <p:cNvSpPr txBox="1"/>
          <p:nvPr/>
        </p:nvSpPr>
        <p:spPr>
          <a:xfrm>
            <a:off x="421551" y="851624"/>
            <a:ext cx="11740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smtClean="0"/>
              <a:t>WHO WE ARE</a:t>
            </a:r>
            <a:endParaRPr lang="it-IT" sz="1200" dirty="0"/>
          </a:p>
        </p:txBody>
      </p:sp>
      <p:cxnSp>
        <p:nvCxnSpPr>
          <p:cNvPr id="17" name="Shape 54"/>
          <p:cNvCxnSpPr>
            <a:stCxn id="5" idx="2"/>
          </p:cNvCxnSpPr>
          <p:nvPr/>
        </p:nvCxnSpPr>
        <p:spPr>
          <a:xfrm rot="10800000" flipV="1">
            <a:off x="1515044" y="646999"/>
            <a:ext cx="3765597" cy="487857"/>
          </a:xfrm>
          <a:prstGeom prst="bentConnector3">
            <a:avLst>
              <a:gd name="adj1" fmla="val 10000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Quad Arrow 194"/>
          <p:cNvSpPr/>
          <p:nvPr/>
        </p:nvSpPr>
        <p:spPr>
          <a:xfrm>
            <a:off x="5659240" y="60491"/>
            <a:ext cx="442054" cy="403448"/>
          </a:xfrm>
          <a:prstGeom prst="quad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hape 54"/>
          <p:cNvCxnSpPr>
            <a:stCxn id="5" idx="0"/>
          </p:cNvCxnSpPr>
          <p:nvPr/>
        </p:nvCxnSpPr>
        <p:spPr>
          <a:xfrm>
            <a:off x="5963427" y="647000"/>
            <a:ext cx="4728625" cy="2179267"/>
          </a:xfrm>
          <a:prstGeom prst="bentConnector3">
            <a:avLst>
              <a:gd name="adj1" fmla="val 9972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3" name="Group 9"/>
          <p:cNvGrpSpPr/>
          <p:nvPr/>
        </p:nvGrpSpPr>
        <p:grpSpPr>
          <a:xfrm>
            <a:off x="761024" y="4784464"/>
            <a:ext cx="204922" cy="245542"/>
            <a:chOff x="4114800" y="2590800"/>
            <a:chExt cx="1524000" cy="1535668"/>
          </a:xfrm>
        </p:grpSpPr>
        <p:sp>
          <p:nvSpPr>
            <p:cNvPr id="134" name="Oval 7"/>
            <p:cNvSpPr/>
            <p:nvPr/>
          </p:nvSpPr>
          <p:spPr>
            <a:xfrm>
              <a:off x="4114800" y="2590800"/>
              <a:ext cx="1524000" cy="1535668"/>
            </a:xfrm>
            <a:prstGeom prst="ellipse">
              <a:avLst/>
            </a:prstGeom>
            <a:ln w="9525" cmpd="sng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135" name="Straight Connector 8"/>
            <p:cNvCxnSpPr/>
            <p:nvPr/>
          </p:nvCxnSpPr>
          <p:spPr>
            <a:xfrm>
              <a:off x="4419600" y="3048000"/>
              <a:ext cx="914400" cy="1588"/>
            </a:xfrm>
            <a:prstGeom prst="line">
              <a:avLst/>
            </a:prstGeom>
            <a:ln w="9525" cmpd="sng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9"/>
            <p:cNvCxnSpPr/>
            <p:nvPr/>
          </p:nvCxnSpPr>
          <p:spPr>
            <a:xfrm>
              <a:off x="4419600" y="3429000"/>
              <a:ext cx="914400" cy="1588"/>
            </a:xfrm>
            <a:prstGeom prst="line">
              <a:avLst/>
            </a:prstGeom>
            <a:ln w="9525" cmpd="sng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0"/>
            <p:cNvCxnSpPr/>
            <p:nvPr/>
          </p:nvCxnSpPr>
          <p:spPr>
            <a:xfrm>
              <a:off x="4419600" y="3733800"/>
              <a:ext cx="914400" cy="1588"/>
            </a:xfrm>
            <a:prstGeom prst="line">
              <a:avLst/>
            </a:prstGeom>
            <a:ln w="9525" cmpd="sng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Snip Single Corner Rectangle 6"/>
          <p:cNvSpPr/>
          <p:nvPr/>
        </p:nvSpPr>
        <p:spPr>
          <a:xfrm>
            <a:off x="863485" y="4921981"/>
            <a:ext cx="430940" cy="595907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9" name="TextBox 11"/>
          <p:cNvSpPr txBox="1"/>
          <p:nvPr/>
        </p:nvSpPr>
        <p:spPr>
          <a:xfrm>
            <a:off x="751376" y="5488193"/>
            <a:ext cx="11008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 err="1" smtClean="0"/>
              <a:t>All</a:t>
            </a:r>
            <a:r>
              <a:rPr lang="it-IT" sz="1100" dirty="0" smtClean="0"/>
              <a:t> Smart Life </a:t>
            </a:r>
            <a:r>
              <a:rPr lang="it-IT" sz="1100" dirty="0" err="1" smtClean="0"/>
              <a:t>categories</a:t>
            </a:r>
            <a:endParaRPr lang="it-IT" sz="1100" dirty="0"/>
          </a:p>
        </p:txBody>
      </p:sp>
      <p:grpSp>
        <p:nvGrpSpPr>
          <p:cNvPr id="140" name="Group 143"/>
          <p:cNvGrpSpPr/>
          <p:nvPr/>
        </p:nvGrpSpPr>
        <p:grpSpPr>
          <a:xfrm>
            <a:off x="592519" y="4741274"/>
            <a:ext cx="486436" cy="541930"/>
            <a:chOff x="4318000" y="2493818"/>
            <a:chExt cx="2921000" cy="3297382"/>
          </a:xfrm>
        </p:grpSpPr>
        <p:grpSp>
          <p:nvGrpSpPr>
            <p:cNvPr id="141" name="Group 35"/>
            <p:cNvGrpSpPr/>
            <p:nvPr/>
          </p:nvGrpSpPr>
          <p:grpSpPr>
            <a:xfrm>
              <a:off x="4450379" y="2515092"/>
              <a:ext cx="2671089" cy="2496083"/>
              <a:chOff x="4114800" y="2590800"/>
              <a:chExt cx="1524000" cy="1535668"/>
            </a:xfrm>
          </p:grpSpPr>
          <p:sp>
            <p:nvSpPr>
              <p:cNvPr id="143" name="Oval 163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144" name="Straight Connector 164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69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70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2" name="Chord 162"/>
            <p:cNvSpPr/>
            <p:nvPr/>
          </p:nvSpPr>
          <p:spPr>
            <a:xfrm>
              <a:off x="4318000" y="2493818"/>
              <a:ext cx="2921000" cy="329738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47" name="Quad Arrow 195"/>
          <p:cNvSpPr/>
          <p:nvPr/>
        </p:nvSpPr>
        <p:spPr>
          <a:xfrm>
            <a:off x="609845" y="5370449"/>
            <a:ext cx="302840" cy="287453"/>
          </a:xfrm>
          <a:prstGeom prst="quad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Shape 54"/>
          <p:cNvCxnSpPr/>
          <p:nvPr/>
        </p:nvCxnSpPr>
        <p:spPr>
          <a:xfrm rot="10800000" flipV="1">
            <a:off x="1029501" y="4258259"/>
            <a:ext cx="4541182" cy="490221"/>
          </a:xfrm>
          <a:prstGeom prst="bentConnector3">
            <a:avLst>
              <a:gd name="adj1" fmla="val 10000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Snip Single Corner Rectangle 57"/>
          <p:cNvSpPr/>
          <p:nvPr/>
        </p:nvSpPr>
        <p:spPr>
          <a:xfrm>
            <a:off x="4537642" y="4926088"/>
            <a:ext cx="476150" cy="642504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3" name="Quad Arrow 195"/>
          <p:cNvSpPr/>
          <p:nvPr/>
        </p:nvSpPr>
        <p:spPr>
          <a:xfrm>
            <a:off x="4388451" y="5432188"/>
            <a:ext cx="302840" cy="287453"/>
          </a:xfrm>
          <a:prstGeom prst="quad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TextBox 11"/>
          <p:cNvSpPr txBox="1"/>
          <p:nvPr/>
        </p:nvSpPr>
        <p:spPr>
          <a:xfrm>
            <a:off x="4416315" y="5658160"/>
            <a:ext cx="10911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 err="1" smtClean="0"/>
              <a:t>All</a:t>
            </a:r>
            <a:r>
              <a:rPr lang="it-IT" sz="1100" dirty="0" smtClean="0"/>
              <a:t> Device </a:t>
            </a:r>
            <a:r>
              <a:rPr lang="it-IT" sz="1100" dirty="0" err="1" smtClean="0"/>
              <a:t>categories</a:t>
            </a:r>
            <a:endParaRPr lang="it-IT" sz="1100" dirty="0"/>
          </a:p>
        </p:txBody>
      </p:sp>
      <p:cxnSp>
        <p:nvCxnSpPr>
          <p:cNvPr id="185" name="Straight Arrow Connector 69"/>
          <p:cNvCxnSpPr/>
          <p:nvPr/>
        </p:nvCxnSpPr>
        <p:spPr>
          <a:xfrm flipH="1">
            <a:off x="1067534" y="5886370"/>
            <a:ext cx="32187" cy="805991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Snip Single Corner Rectangle 6"/>
          <p:cNvSpPr/>
          <p:nvPr/>
        </p:nvSpPr>
        <p:spPr>
          <a:xfrm>
            <a:off x="7887628" y="4870368"/>
            <a:ext cx="430940" cy="595907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9" name="TextBox 11"/>
          <p:cNvSpPr txBox="1"/>
          <p:nvPr/>
        </p:nvSpPr>
        <p:spPr>
          <a:xfrm>
            <a:off x="7793217" y="5489898"/>
            <a:ext cx="12563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 err="1" smtClean="0"/>
              <a:t>All</a:t>
            </a:r>
            <a:r>
              <a:rPr lang="it-IT" sz="1100" dirty="0" smtClean="0"/>
              <a:t> Assistance service </a:t>
            </a:r>
            <a:r>
              <a:rPr lang="it-IT" sz="1100" dirty="0" err="1" smtClean="0"/>
              <a:t>categories</a:t>
            </a:r>
            <a:endParaRPr lang="it-IT" sz="1100" dirty="0"/>
          </a:p>
        </p:txBody>
      </p:sp>
      <p:grpSp>
        <p:nvGrpSpPr>
          <p:cNvPr id="100" name="Group 143"/>
          <p:cNvGrpSpPr/>
          <p:nvPr/>
        </p:nvGrpSpPr>
        <p:grpSpPr>
          <a:xfrm>
            <a:off x="7541497" y="4697961"/>
            <a:ext cx="486436" cy="541930"/>
            <a:chOff x="4318000" y="2493818"/>
            <a:chExt cx="2921000" cy="3297382"/>
          </a:xfrm>
        </p:grpSpPr>
        <p:grpSp>
          <p:nvGrpSpPr>
            <p:cNvPr id="101" name="Group 35"/>
            <p:cNvGrpSpPr/>
            <p:nvPr/>
          </p:nvGrpSpPr>
          <p:grpSpPr>
            <a:xfrm>
              <a:off x="4450379" y="2515092"/>
              <a:ext cx="2671089" cy="2496083"/>
              <a:chOff x="4114800" y="2590800"/>
              <a:chExt cx="1524000" cy="1535668"/>
            </a:xfrm>
          </p:grpSpPr>
          <p:sp>
            <p:nvSpPr>
              <p:cNvPr id="103" name="Oval 163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104" name="Straight Connector 164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69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70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Chord 162"/>
            <p:cNvSpPr/>
            <p:nvPr/>
          </p:nvSpPr>
          <p:spPr>
            <a:xfrm>
              <a:off x="4318000" y="2493818"/>
              <a:ext cx="2921000" cy="329738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07" name="Quad Arrow 195"/>
          <p:cNvSpPr/>
          <p:nvPr/>
        </p:nvSpPr>
        <p:spPr>
          <a:xfrm>
            <a:off x="7660545" y="5301140"/>
            <a:ext cx="302840" cy="287453"/>
          </a:xfrm>
          <a:prstGeom prst="quad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CasellaDiTesto 161"/>
          <p:cNvSpPr txBox="1"/>
          <p:nvPr/>
        </p:nvSpPr>
        <p:spPr>
          <a:xfrm>
            <a:off x="424071" y="216123"/>
            <a:ext cx="1113182" cy="457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/>
              <a:t>P</a:t>
            </a:r>
            <a:r>
              <a:rPr lang="it-IT" sz="2400" b="1" dirty="0" smtClean="0"/>
              <a:t>-IDM</a:t>
            </a:r>
          </a:p>
        </p:txBody>
      </p:sp>
      <p:sp>
        <p:nvSpPr>
          <p:cNvPr id="164" name="Rectangle 23"/>
          <p:cNvSpPr/>
          <p:nvPr/>
        </p:nvSpPr>
        <p:spPr>
          <a:xfrm>
            <a:off x="9301907" y="1190256"/>
            <a:ext cx="2388814" cy="5339333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6" name="Rectangle 25"/>
          <p:cNvSpPr/>
          <p:nvPr/>
        </p:nvSpPr>
        <p:spPr>
          <a:xfrm>
            <a:off x="11037341" y="969246"/>
            <a:ext cx="542912" cy="19975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88" name="Straight Arrow Connector 29"/>
          <p:cNvCxnSpPr>
            <a:stCxn id="186" idx="1"/>
          </p:cNvCxnSpPr>
          <p:nvPr/>
        </p:nvCxnSpPr>
        <p:spPr>
          <a:xfrm flipH="1">
            <a:off x="10667879" y="1069125"/>
            <a:ext cx="369462" cy="2903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50"/>
          <p:cNvSpPr txBox="1"/>
          <p:nvPr/>
        </p:nvSpPr>
        <p:spPr>
          <a:xfrm>
            <a:off x="9408722" y="5225194"/>
            <a:ext cx="113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A2A</a:t>
            </a:r>
            <a:endParaRPr lang="en-US" dirty="0"/>
          </a:p>
        </p:txBody>
      </p:sp>
      <p:sp>
        <p:nvSpPr>
          <p:cNvPr id="193" name="Quad Arrow 121"/>
          <p:cNvSpPr/>
          <p:nvPr/>
        </p:nvSpPr>
        <p:spPr>
          <a:xfrm>
            <a:off x="9093765" y="1055242"/>
            <a:ext cx="629914" cy="608460"/>
          </a:xfrm>
          <a:prstGeom prst="quad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CasellaDiTesto 193"/>
          <p:cNvSpPr txBox="1"/>
          <p:nvPr/>
        </p:nvSpPr>
        <p:spPr>
          <a:xfrm>
            <a:off x="9434200" y="918938"/>
            <a:ext cx="11740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smtClean="0"/>
              <a:t>THE GROUP</a:t>
            </a:r>
            <a:endParaRPr lang="it-IT" sz="1200" dirty="0"/>
          </a:p>
        </p:txBody>
      </p:sp>
      <p:cxnSp>
        <p:nvCxnSpPr>
          <p:cNvPr id="25" name="Connettore 1 24"/>
          <p:cNvCxnSpPr/>
          <p:nvPr/>
        </p:nvCxnSpPr>
        <p:spPr>
          <a:xfrm flipV="1">
            <a:off x="5575938" y="4258258"/>
            <a:ext cx="25271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1 32"/>
          <p:cNvCxnSpPr>
            <a:stCxn id="5" idx="1"/>
          </p:cNvCxnSpPr>
          <p:nvPr/>
        </p:nvCxnSpPr>
        <p:spPr>
          <a:xfrm>
            <a:off x="5622034" y="1049431"/>
            <a:ext cx="6034" cy="3187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8" name="Group 143"/>
          <p:cNvGrpSpPr/>
          <p:nvPr/>
        </p:nvGrpSpPr>
        <p:grpSpPr>
          <a:xfrm>
            <a:off x="4272532" y="4736295"/>
            <a:ext cx="486436" cy="541930"/>
            <a:chOff x="4318000" y="2493818"/>
            <a:chExt cx="2921000" cy="3297382"/>
          </a:xfrm>
        </p:grpSpPr>
        <p:grpSp>
          <p:nvGrpSpPr>
            <p:cNvPr id="199" name="Group 35"/>
            <p:cNvGrpSpPr/>
            <p:nvPr/>
          </p:nvGrpSpPr>
          <p:grpSpPr>
            <a:xfrm>
              <a:off x="4450379" y="2515092"/>
              <a:ext cx="2671089" cy="2496083"/>
              <a:chOff x="4114800" y="2590800"/>
              <a:chExt cx="1524000" cy="1535668"/>
            </a:xfrm>
          </p:grpSpPr>
          <p:sp>
            <p:nvSpPr>
              <p:cNvPr id="201" name="Oval 163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202" name="Straight Connector 164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169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170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Chord 162"/>
            <p:cNvSpPr/>
            <p:nvPr/>
          </p:nvSpPr>
          <p:spPr>
            <a:xfrm>
              <a:off x="4318000" y="2493818"/>
              <a:ext cx="2921000" cy="329738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39" name="Connettore 2 38"/>
          <p:cNvCxnSpPr>
            <a:endCxn id="167" idx="3"/>
          </p:cNvCxnSpPr>
          <p:nvPr/>
        </p:nvCxnSpPr>
        <p:spPr>
          <a:xfrm>
            <a:off x="4775717" y="4258258"/>
            <a:ext cx="0" cy="667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/>
          <p:cNvCxnSpPr>
            <a:endCxn id="98" idx="3"/>
          </p:cNvCxnSpPr>
          <p:nvPr/>
        </p:nvCxnSpPr>
        <p:spPr>
          <a:xfrm>
            <a:off x="8103098" y="4258258"/>
            <a:ext cx="0" cy="612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sellaDiTesto 61"/>
          <p:cNvSpPr txBox="1"/>
          <p:nvPr/>
        </p:nvSpPr>
        <p:spPr>
          <a:xfrm>
            <a:off x="1205208" y="5888107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I</a:t>
            </a:r>
            <a:endParaRPr lang="it-IT" dirty="0"/>
          </a:p>
        </p:txBody>
      </p:sp>
      <p:grpSp>
        <p:nvGrpSpPr>
          <p:cNvPr id="227" name="Group 65"/>
          <p:cNvGrpSpPr/>
          <p:nvPr/>
        </p:nvGrpSpPr>
        <p:grpSpPr>
          <a:xfrm>
            <a:off x="8196776" y="5273998"/>
            <a:ext cx="243583" cy="286068"/>
            <a:chOff x="6257635" y="827263"/>
            <a:chExt cx="2516909" cy="2898229"/>
          </a:xfrm>
        </p:grpSpPr>
        <p:sp>
          <p:nvSpPr>
            <p:cNvPr id="229" name="Oval 66"/>
            <p:cNvSpPr/>
            <p:nvPr/>
          </p:nvSpPr>
          <p:spPr>
            <a:xfrm>
              <a:off x="6366165" y="827263"/>
              <a:ext cx="2304473" cy="2370831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230" name="Group 4"/>
            <p:cNvGrpSpPr/>
            <p:nvPr/>
          </p:nvGrpSpPr>
          <p:grpSpPr>
            <a:xfrm>
              <a:off x="6502099" y="915161"/>
              <a:ext cx="2043964" cy="2185649"/>
              <a:chOff x="4114800" y="2590800"/>
              <a:chExt cx="1524000" cy="1535668"/>
            </a:xfrm>
          </p:grpSpPr>
          <p:sp>
            <p:nvSpPr>
              <p:cNvPr id="232" name="Oval 69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233" name="Straight Connector 70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71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72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1" name="Chord 68"/>
            <p:cNvSpPr/>
            <p:nvPr/>
          </p:nvSpPr>
          <p:spPr>
            <a:xfrm>
              <a:off x="6257635" y="838200"/>
              <a:ext cx="2516909" cy="288729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9" name="CasellaDiTesto 18"/>
          <p:cNvSpPr txBox="1"/>
          <p:nvPr/>
        </p:nvSpPr>
        <p:spPr>
          <a:xfrm>
            <a:off x="1149578" y="1604567"/>
            <a:ext cx="798617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err="1"/>
              <a:t>Innovation</a:t>
            </a:r>
            <a:endParaRPr lang="it-IT" sz="1100" dirty="0"/>
          </a:p>
          <a:p>
            <a:endParaRPr lang="it-IT" dirty="0"/>
          </a:p>
        </p:txBody>
      </p:sp>
      <p:grpSp>
        <p:nvGrpSpPr>
          <p:cNvPr id="222" name="Group 65"/>
          <p:cNvGrpSpPr/>
          <p:nvPr/>
        </p:nvGrpSpPr>
        <p:grpSpPr>
          <a:xfrm>
            <a:off x="4874079" y="5425558"/>
            <a:ext cx="243583" cy="286068"/>
            <a:chOff x="6257635" y="827263"/>
            <a:chExt cx="2516909" cy="2898229"/>
          </a:xfrm>
        </p:grpSpPr>
        <p:sp>
          <p:nvSpPr>
            <p:cNvPr id="223" name="Oval 66"/>
            <p:cNvSpPr/>
            <p:nvPr/>
          </p:nvSpPr>
          <p:spPr>
            <a:xfrm>
              <a:off x="6366165" y="827263"/>
              <a:ext cx="2304473" cy="2370831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224" name="Group 4"/>
            <p:cNvGrpSpPr/>
            <p:nvPr/>
          </p:nvGrpSpPr>
          <p:grpSpPr>
            <a:xfrm>
              <a:off x="6502099" y="915161"/>
              <a:ext cx="2043964" cy="2185649"/>
              <a:chOff x="4114800" y="2590800"/>
              <a:chExt cx="1524000" cy="1535668"/>
            </a:xfrm>
          </p:grpSpPr>
          <p:sp>
            <p:nvSpPr>
              <p:cNvPr id="236" name="Oval 69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237" name="Straight Connector 70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71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72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5" name="Chord 68"/>
            <p:cNvSpPr/>
            <p:nvPr/>
          </p:nvSpPr>
          <p:spPr>
            <a:xfrm>
              <a:off x="6257635" y="838200"/>
              <a:ext cx="2516909" cy="288729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241" name="Straight Arrow Connector 69"/>
          <p:cNvCxnSpPr/>
          <p:nvPr/>
        </p:nvCxnSpPr>
        <p:spPr>
          <a:xfrm flipH="1">
            <a:off x="4480047" y="6178615"/>
            <a:ext cx="211244" cy="620753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69"/>
          <p:cNvCxnSpPr/>
          <p:nvPr/>
        </p:nvCxnSpPr>
        <p:spPr>
          <a:xfrm>
            <a:off x="4937300" y="6226466"/>
            <a:ext cx="180363" cy="635943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69"/>
          <p:cNvCxnSpPr/>
          <p:nvPr/>
        </p:nvCxnSpPr>
        <p:spPr>
          <a:xfrm>
            <a:off x="8220435" y="6022455"/>
            <a:ext cx="39562" cy="669906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69"/>
          <p:cNvCxnSpPr/>
          <p:nvPr/>
        </p:nvCxnSpPr>
        <p:spPr>
          <a:xfrm>
            <a:off x="8466444" y="6056418"/>
            <a:ext cx="180363" cy="635943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Snip Single Corner Rectangle 35"/>
          <p:cNvSpPr/>
          <p:nvPr/>
        </p:nvSpPr>
        <p:spPr>
          <a:xfrm>
            <a:off x="10075791" y="1445952"/>
            <a:ext cx="898507" cy="894061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100" dirty="0"/>
          </a:p>
        </p:txBody>
      </p:sp>
      <p:sp>
        <p:nvSpPr>
          <p:cNvPr id="251" name="Snip Single Corner Rectangle 35"/>
          <p:cNvSpPr/>
          <p:nvPr/>
        </p:nvSpPr>
        <p:spPr>
          <a:xfrm>
            <a:off x="10075790" y="2422477"/>
            <a:ext cx="898507" cy="894061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100" dirty="0"/>
          </a:p>
        </p:txBody>
      </p:sp>
      <p:sp>
        <p:nvSpPr>
          <p:cNvPr id="252" name="Snip Single Corner Rectangle 35"/>
          <p:cNvSpPr/>
          <p:nvPr/>
        </p:nvSpPr>
        <p:spPr>
          <a:xfrm>
            <a:off x="10071813" y="3399002"/>
            <a:ext cx="898507" cy="894061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100" dirty="0"/>
          </a:p>
        </p:txBody>
      </p:sp>
      <p:sp>
        <p:nvSpPr>
          <p:cNvPr id="253" name="Snip Single Corner Rectangle 35"/>
          <p:cNvSpPr/>
          <p:nvPr/>
        </p:nvSpPr>
        <p:spPr>
          <a:xfrm>
            <a:off x="10071813" y="4410536"/>
            <a:ext cx="898507" cy="894061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100" dirty="0"/>
          </a:p>
        </p:txBody>
      </p:sp>
      <p:sp>
        <p:nvSpPr>
          <p:cNvPr id="254" name="Snip Single Corner Rectangle 35"/>
          <p:cNvSpPr/>
          <p:nvPr/>
        </p:nvSpPr>
        <p:spPr>
          <a:xfrm>
            <a:off x="10071813" y="5387793"/>
            <a:ext cx="898507" cy="894061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100" dirty="0"/>
          </a:p>
        </p:txBody>
      </p:sp>
      <p:sp>
        <p:nvSpPr>
          <p:cNvPr id="260" name="Snip Single Corner Rectangle 28"/>
          <p:cNvSpPr/>
          <p:nvPr/>
        </p:nvSpPr>
        <p:spPr>
          <a:xfrm>
            <a:off x="1099721" y="2260920"/>
            <a:ext cx="927659" cy="787121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100" dirty="0"/>
          </a:p>
        </p:txBody>
      </p:sp>
      <p:sp>
        <p:nvSpPr>
          <p:cNvPr id="261" name="Snip Single Corner Rectangle 28"/>
          <p:cNvSpPr/>
          <p:nvPr/>
        </p:nvSpPr>
        <p:spPr>
          <a:xfrm>
            <a:off x="1097033" y="3122578"/>
            <a:ext cx="927659" cy="787121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100" dirty="0"/>
          </a:p>
        </p:txBody>
      </p:sp>
      <p:sp>
        <p:nvSpPr>
          <p:cNvPr id="258" name="CasellaDiTesto 257"/>
          <p:cNvSpPr txBox="1"/>
          <p:nvPr/>
        </p:nvSpPr>
        <p:spPr>
          <a:xfrm>
            <a:off x="1109456" y="2539570"/>
            <a:ext cx="9028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smtClean="0"/>
              <a:t>Testimonials</a:t>
            </a:r>
            <a:endParaRPr lang="it-IT" sz="1100" dirty="0"/>
          </a:p>
        </p:txBody>
      </p:sp>
      <p:sp>
        <p:nvSpPr>
          <p:cNvPr id="259" name="CasellaDiTesto 258"/>
          <p:cNvSpPr txBox="1"/>
          <p:nvPr/>
        </p:nvSpPr>
        <p:spPr>
          <a:xfrm>
            <a:off x="1242140" y="3386477"/>
            <a:ext cx="59022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smtClean="0"/>
              <a:t>Project</a:t>
            </a:r>
            <a:endParaRPr lang="it-IT" sz="1100" dirty="0"/>
          </a:p>
          <a:p>
            <a:endParaRPr lang="it-IT" dirty="0"/>
          </a:p>
        </p:txBody>
      </p:sp>
      <p:sp>
        <p:nvSpPr>
          <p:cNvPr id="263" name="CasellaDiTesto 262"/>
          <p:cNvSpPr txBox="1"/>
          <p:nvPr/>
        </p:nvSpPr>
        <p:spPr>
          <a:xfrm>
            <a:off x="10071813" y="1756800"/>
            <a:ext cx="91563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smtClean="0"/>
              <a:t>Presentation</a:t>
            </a:r>
            <a:endParaRPr lang="it-IT" sz="1100" dirty="0"/>
          </a:p>
          <a:p>
            <a:endParaRPr lang="it-IT" dirty="0"/>
          </a:p>
        </p:txBody>
      </p:sp>
      <p:sp>
        <p:nvSpPr>
          <p:cNvPr id="267" name="CasellaDiTesto 266"/>
          <p:cNvSpPr txBox="1"/>
          <p:nvPr/>
        </p:nvSpPr>
        <p:spPr>
          <a:xfrm>
            <a:off x="10278599" y="2724734"/>
            <a:ext cx="50206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smtClean="0"/>
              <a:t>News</a:t>
            </a:r>
            <a:endParaRPr lang="it-IT" sz="1100" dirty="0"/>
          </a:p>
          <a:p>
            <a:endParaRPr lang="it-IT" dirty="0"/>
          </a:p>
        </p:txBody>
      </p:sp>
      <p:sp>
        <p:nvSpPr>
          <p:cNvPr id="268" name="CasellaDiTesto 267"/>
          <p:cNvSpPr txBox="1"/>
          <p:nvPr/>
        </p:nvSpPr>
        <p:spPr>
          <a:xfrm>
            <a:off x="10091047" y="3698540"/>
            <a:ext cx="877163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err="1" smtClean="0"/>
              <a:t>Governance</a:t>
            </a:r>
            <a:endParaRPr lang="it-IT" sz="1100" dirty="0"/>
          </a:p>
          <a:p>
            <a:endParaRPr lang="it-IT" dirty="0"/>
          </a:p>
        </p:txBody>
      </p:sp>
      <p:sp>
        <p:nvSpPr>
          <p:cNvPr id="269" name="CasellaDiTesto 268"/>
          <p:cNvSpPr txBox="1"/>
          <p:nvPr/>
        </p:nvSpPr>
        <p:spPr>
          <a:xfrm>
            <a:off x="10178731" y="4576478"/>
            <a:ext cx="675185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smtClean="0"/>
              <a:t>Business</a:t>
            </a:r>
          </a:p>
          <a:p>
            <a:r>
              <a:rPr lang="it-IT" sz="1100" dirty="0" smtClean="0"/>
              <a:t>and</a:t>
            </a:r>
          </a:p>
          <a:p>
            <a:r>
              <a:rPr lang="it-IT" sz="1100" dirty="0" smtClean="0"/>
              <a:t>market</a:t>
            </a:r>
            <a:endParaRPr lang="it-IT" sz="1100" dirty="0"/>
          </a:p>
          <a:p>
            <a:endParaRPr lang="it-IT" dirty="0"/>
          </a:p>
        </p:txBody>
      </p:sp>
      <p:sp>
        <p:nvSpPr>
          <p:cNvPr id="270" name="CasellaDiTesto 269"/>
          <p:cNvSpPr txBox="1"/>
          <p:nvPr/>
        </p:nvSpPr>
        <p:spPr>
          <a:xfrm>
            <a:off x="10054497" y="5715074"/>
            <a:ext cx="92365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smtClean="0"/>
              <a:t>For </a:t>
            </a:r>
            <a:r>
              <a:rPr lang="it-IT" sz="1100" dirty="0" err="1" smtClean="0"/>
              <a:t>investors</a:t>
            </a:r>
            <a:endParaRPr lang="it-IT" sz="1100" dirty="0"/>
          </a:p>
          <a:p>
            <a:endParaRPr lang="it-IT" dirty="0"/>
          </a:p>
        </p:txBody>
      </p:sp>
      <p:sp>
        <p:nvSpPr>
          <p:cNvPr id="271" name="TextBox 200"/>
          <p:cNvSpPr txBox="1"/>
          <p:nvPr/>
        </p:nvSpPr>
        <p:spPr>
          <a:xfrm>
            <a:off x="436330" y="6219878"/>
            <a:ext cx="79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I+GT </a:t>
            </a:r>
            <a:endParaRPr lang="en-US" sz="1400" dirty="0"/>
          </a:p>
        </p:txBody>
      </p:sp>
      <p:sp>
        <p:nvSpPr>
          <p:cNvPr id="286" name="TextBox 200"/>
          <p:cNvSpPr txBox="1"/>
          <p:nvPr/>
        </p:nvSpPr>
        <p:spPr>
          <a:xfrm>
            <a:off x="3717824" y="6236660"/>
            <a:ext cx="79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I+GT </a:t>
            </a:r>
            <a:endParaRPr lang="en-US" sz="1400" dirty="0"/>
          </a:p>
        </p:txBody>
      </p:sp>
      <p:sp>
        <p:nvSpPr>
          <p:cNvPr id="287" name="TextBox 200"/>
          <p:cNvSpPr txBox="1"/>
          <p:nvPr/>
        </p:nvSpPr>
        <p:spPr>
          <a:xfrm>
            <a:off x="7639831" y="6203519"/>
            <a:ext cx="79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I+GT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28789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42"/>
          <p:cNvGrpSpPr/>
          <p:nvPr/>
        </p:nvGrpSpPr>
        <p:grpSpPr>
          <a:xfrm>
            <a:off x="0" y="2694155"/>
            <a:ext cx="2503135" cy="3855182"/>
            <a:chOff x="381000" y="4011257"/>
            <a:chExt cx="1830118" cy="3197075"/>
          </a:xfrm>
        </p:grpSpPr>
        <p:grpSp>
          <p:nvGrpSpPr>
            <p:cNvPr id="138" name="Group 67"/>
            <p:cNvGrpSpPr/>
            <p:nvPr/>
          </p:nvGrpSpPr>
          <p:grpSpPr>
            <a:xfrm>
              <a:off x="381000" y="4185609"/>
              <a:ext cx="1824182" cy="2757300"/>
              <a:chOff x="436585" y="4109409"/>
              <a:chExt cx="1824182" cy="2757300"/>
            </a:xfrm>
          </p:grpSpPr>
          <p:sp>
            <p:nvSpPr>
              <p:cNvPr id="144" name="Rectangle 65"/>
              <p:cNvSpPr/>
              <p:nvPr/>
            </p:nvSpPr>
            <p:spPr>
              <a:xfrm>
                <a:off x="436585" y="4109409"/>
                <a:ext cx="1824182" cy="2757300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47" name="Rectangle 66"/>
              <p:cNvSpPr/>
              <p:nvPr/>
            </p:nvSpPr>
            <p:spPr>
              <a:xfrm>
                <a:off x="512784" y="4191001"/>
                <a:ext cx="1676400" cy="2623642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sp>
          <p:nvSpPr>
            <p:cNvPr id="139" name="TextBox 68"/>
            <p:cNvSpPr txBox="1"/>
            <p:nvPr/>
          </p:nvSpPr>
          <p:spPr>
            <a:xfrm>
              <a:off x="715544" y="6953095"/>
              <a:ext cx="1103138" cy="2552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b="1" dirty="0" smtClean="0"/>
                <a:t>Smart Life [10-50]</a:t>
              </a:r>
              <a:endParaRPr lang="it-IT" sz="1400" b="1" dirty="0"/>
            </a:p>
          </p:txBody>
        </p:sp>
        <p:sp>
          <p:nvSpPr>
            <p:cNvPr id="140" name="Rectangle 71"/>
            <p:cNvSpPr/>
            <p:nvPr/>
          </p:nvSpPr>
          <p:spPr>
            <a:xfrm>
              <a:off x="1830118" y="4011257"/>
              <a:ext cx="381000" cy="16128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1" name="Snip Single Corner Rectangle 73"/>
            <p:cNvSpPr/>
            <p:nvPr/>
          </p:nvSpPr>
          <p:spPr>
            <a:xfrm>
              <a:off x="895342" y="4482343"/>
              <a:ext cx="765725" cy="685255"/>
            </a:xfrm>
            <a:prstGeom prst="snip1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sz="1100" dirty="0"/>
            </a:p>
          </p:txBody>
        </p:sp>
        <p:cxnSp>
          <p:nvCxnSpPr>
            <p:cNvPr id="142" name="Straight Arrow Connector 76"/>
            <p:cNvCxnSpPr/>
            <p:nvPr/>
          </p:nvCxnSpPr>
          <p:spPr>
            <a:xfrm flipH="1">
              <a:off x="1603108" y="4211273"/>
              <a:ext cx="341203" cy="34983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5" name="Snip Single Corner Rectangle 73"/>
          <p:cNvSpPr/>
          <p:nvPr/>
        </p:nvSpPr>
        <p:spPr>
          <a:xfrm>
            <a:off x="704193" y="4151586"/>
            <a:ext cx="1072055" cy="798786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100" dirty="0"/>
          </a:p>
        </p:txBody>
      </p:sp>
      <p:grpSp>
        <p:nvGrpSpPr>
          <p:cNvPr id="18" name="Group 142"/>
          <p:cNvGrpSpPr/>
          <p:nvPr/>
        </p:nvGrpSpPr>
        <p:grpSpPr>
          <a:xfrm>
            <a:off x="4930068" y="2662623"/>
            <a:ext cx="2416663" cy="4011445"/>
            <a:chOff x="380999" y="4281512"/>
            <a:chExt cx="1824183" cy="1961580"/>
          </a:xfrm>
        </p:grpSpPr>
        <p:grpSp>
          <p:nvGrpSpPr>
            <p:cNvPr id="19" name="Group 67"/>
            <p:cNvGrpSpPr/>
            <p:nvPr/>
          </p:nvGrpSpPr>
          <p:grpSpPr>
            <a:xfrm>
              <a:off x="380999" y="4404585"/>
              <a:ext cx="1824183" cy="1611067"/>
              <a:chOff x="436584" y="4328385"/>
              <a:chExt cx="1824183" cy="1611067"/>
            </a:xfrm>
          </p:grpSpPr>
          <p:sp>
            <p:nvSpPr>
              <p:cNvPr id="26" name="Rectangle 65"/>
              <p:cNvSpPr/>
              <p:nvPr/>
            </p:nvSpPr>
            <p:spPr>
              <a:xfrm>
                <a:off x="436584" y="4328385"/>
                <a:ext cx="1824183" cy="1611067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7" name="Rectangle 66"/>
              <p:cNvSpPr/>
              <p:nvPr/>
            </p:nvSpPr>
            <p:spPr>
              <a:xfrm>
                <a:off x="512784" y="4401341"/>
                <a:ext cx="1676400" cy="1459833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sp>
          <p:nvSpPr>
            <p:cNvPr id="20" name="TextBox 68"/>
            <p:cNvSpPr txBox="1"/>
            <p:nvPr/>
          </p:nvSpPr>
          <p:spPr>
            <a:xfrm>
              <a:off x="776654" y="6047604"/>
              <a:ext cx="944692" cy="195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b="1" dirty="0" smtClean="0"/>
                <a:t>Device[0-100]</a:t>
              </a:r>
              <a:endParaRPr lang="it-IT" sz="1400" b="1" dirty="0"/>
            </a:p>
          </p:txBody>
        </p:sp>
        <p:sp>
          <p:nvSpPr>
            <p:cNvPr id="21" name="Rectangle 71"/>
            <p:cNvSpPr/>
            <p:nvPr/>
          </p:nvSpPr>
          <p:spPr>
            <a:xfrm>
              <a:off x="1823449" y="4281512"/>
              <a:ext cx="381000" cy="12063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Snip Single Corner Rectangle 73"/>
            <p:cNvSpPr/>
            <p:nvPr/>
          </p:nvSpPr>
          <p:spPr>
            <a:xfrm>
              <a:off x="864407" y="4669084"/>
              <a:ext cx="785424" cy="576942"/>
            </a:xfrm>
            <a:prstGeom prst="snip1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sz="1100" dirty="0"/>
            </a:p>
          </p:txBody>
        </p:sp>
        <p:cxnSp>
          <p:nvCxnSpPr>
            <p:cNvPr id="23" name="Straight Arrow Connector 76"/>
            <p:cNvCxnSpPr/>
            <p:nvPr/>
          </p:nvCxnSpPr>
          <p:spPr>
            <a:xfrm flipH="1">
              <a:off x="1595884" y="4399263"/>
              <a:ext cx="305777" cy="26982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69"/>
          <p:cNvCxnSpPr>
            <a:stCxn id="197" idx="1"/>
          </p:cNvCxnSpPr>
          <p:nvPr/>
        </p:nvCxnSpPr>
        <p:spPr>
          <a:xfrm>
            <a:off x="1173780" y="1315306"/>
            <a:ext cx="19942" cy="1541084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200"/>
          <p:cNvSpPr txBox="1"/>
          <p:nvPr/>
        </p:nvSpPr>
        <p:spPr>
          <a:xfrm>
            <a:off x="322038" y="96248"/>
            <a:ext cx="79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I+GT </a:t>
            </a:r>
            <a:endParaRPr lang="en-US" sz="1400" dirty="0"/>
          </a:p>
        </p:txBody>
      </p:sp>
      <p:grpSp>
        <p:nvGrpSpPr>
          <p:cNvPr id="46" name="Group 55"/>
          <p:cNvGrpSpPr/>
          <p:nvPr/>
        </p:nvGrpSpPr>
        <p:grpSpPr>
          <a:xfrm>
            <a:off x="10103553" y="3990523"/>
            <a:ext cx="2088448" cy="1811597"/>
            <a:chOff x="381001" y="4185609"/>
            <a:chExt cx="1597796" cy="1561323"/>
          </a:xfrm>
        </p:grpSpPr>
        <p:grpSp>
          <p:nvGrpSpPr>
            <p:cNvPr id="47" name="Group 67"/>
            <p:cNvGrpSpPr/>
            <p:nvPr/>
          </p:nvGrpSpPr>
          <p:grpSpPr>
            <a:xfrm>
              <a:off x="381001" y="4185609"/>
              <a:ext cx="1282230" cy="1292468"/>
              <a:chOff x="436586" y="4109409"/>
              <a:chExt cx="1282230" cy="1292468"/>
            </a:xfrm>
          </p:grpSpPr>
          <p:sp>
            <p:nvSpPr>
              <p:cNvPr id="52" name="Rectangle 71"/>
              <p:cNvSpPr/>
              <p:nvPr/>
            </p:nvSpPr>
            <p:spPr>
              <a:xfrm>
                <a:off x="436586" y="4109409"/>
                <a:ext cx="1282230" cy="129246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3" name="Rectangle 72"/>
              <p:cNvSpPr/>
              <p:nvPr/>
            </p:nvSpPr>
            <p:spPr>
              <a:xfrm>
                <a:off x="512785" y="4191002"/>
                <a:ext cx="1146127" cy="1127054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sp>
          <p:nvSpPr>
            <p:cNvPr id="48" name="TextBox 57"/>
            <p:cNvSpPr txBox="1"/>
            <p:nvPr/>
          </p:nvSpPr>
          <p:spPr>
            <a:xfrm>
              <a:off x="483272" y="5481675"/>
              <a:ext cx="1405307" cy="265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b="1" dirty="0" smtClean="0"/>
                <a:t>Assistance Service[50]</a:t>
              </a:r>
              <a:endParaRPr lang="it-IT" sz="1400" b="1" dirty="0"/>
            </a:p>
          </p:txBody>
        </p:sp>
        <p:sp>
          <p:nvSpPr>
            <p:cNvPr id="49" name="Rectangle 58"/>
            <p:cNvSpPr/>
            <p:nvPr/>
          </p:nvSpPr>
          <p:spPr>
            <a:xfrm>
              <a:off x="1597797" y="4273978"/>
              <a:ext cx="381000" cy="16128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0" name="Snip Single Corner Rectangle 70"/>
            <p:cNvSpPr/>
            <p:nvPr/>
          </p:nvSpPr>
          <p:spPr>
            <a:xfrm>
              <a:off x="689553" y="4467386"/>
              <a:ext cx="688357" cy="721123"/>
            </a:xfrm>
            <a:prstGeom prst="snip1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1100" dirty="0" err="1" smtClean="0"/>
                <a:t>Description</a:t>
              </a:r>
              <a:endParaRPr lang="it-IT" sz="900" dirty="0"/>
            </a:p>
          </p:txBody>
        </p:sp>
        <p:cxnSp>
          <p:nvCxnSpPr>
            <p:cNvPr id="51" name="Straight Arrow Connector 60"/>
            <p:cNvCxnSpPr/>
            <p:nvPr/>
          </p:nvCxnSpPr>
          <p:spPr>
            <a:xfrm flipH="1">
              <a:off x="1392868" y="4354621"/>
              <a:ext cx="198833" cy="27362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200"/>
          <p:cNvSpPr txBox="1"/>
          <p:nvPr/>
        </p:nvSpPr>
        <p:spPr>
          <a:xfrm>
            <a:off x="6727114" y="-286169"/>
            <a:ext cx="79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I+GT </a:t>
            </a:r>
            <a:endParaRPr lang="en-US" sz="1400" dirty="0"/>
          </a:p>
        </p:txBody>
      </p:sp>
      <p:cxnSp>
        <p:nvCxnSpPr>
          <p:cNvPr id="66" name="Straight Arrow Connector 69"/>
          <p:cNvCxnSpPr/>
          <p:nvPr/>
        </p:nvCxnSpPr>
        <p:spPr>
          <a:xfrm flipH="1">
            <a:off x="10072606" y="72552"/>
            <a:ext cx="35041" cy="1783522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8" name="Group 102"/>
          <p:cNvGrpSpPr/>
          <p:nvPr/>
        </p:nvGrpSpPr>
        <p:grpSpPr>
          <a:xfrm flipV="1">
            <a:off x="2522110" y="2361649"/>
            <a:ext cx="2405203" cy="2090584"/>
            <a:chOff x="2458974" y="2945319"/>
            <a:chExt cx="6801781" cy="3978787"/>
          </a:xfrm>
        </p:grpSpPr>
        <p:cxnSp>
          <p:nvCxnSpPr>
            <p:cNvPr id="129" name="Straight Arrow Connector 103"/>
            <p:cNvCxnSpPr/>
            <p:nvPr/>
          </p:nvCxnSpPr>
          <p:spPr>
            <a:xfrm>
              <a:off x="2458974" y="2945319"/>
              <a:ext cx="6801781" cy="14803"/>
            </a:xfrm>
            <a:prstGeom prst="straightConnector1">
              <a:avLst/>
            </a:prstGeom>
            <a:ln w="63500" cmpd="dbl"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04"/>
            <p:cNvSpPr txBox="1"/>
            <p:nvPr/>
          </p:nvSpPr>
          <p:spPr>
            <a:xfrm rot="10800000" flipH="1">
              <a:off x="3840872" y="6338347"/>
              <a:ext cx="4287308" cy="585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it-IT" sz="1400" dirty="0" smtClean="0"/>
            </a:p>
          </p:txBody>
        </p:sp>
      </p:grpSp>
      <p:sp>
        <p:nvSpPr>
          <p:cNvPr id="149" name="Snip Single Corner Rectangle 79"/>
          <p:cNvSpPr/>
          <p:nvPr/>
        </p:nvSpPr>
        <p:spPr>
          <a:xfrm>
            <a:off x="736119" y="5013434"/>
            <a:ext cx="1040129" cy="851338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100" dirty="0" smtClean="0"/>
              <a:t>FAQ</a:t>
            </a:r>
            <a:endParaRPr lang="it-IT" sz="1100" dirty="0"/>
          </a:p>
        </p:txBody>
      </p:sp>
      <p:cxnSp>
        <p:nvCxnSpPr>
          <p:cNvPr id="132" name="Straight Arrow Connector 103"/>
          <p:cNvCxnSpPr/>
          <p:nvPr/>
        </p:nvCxnSpPr>
        <p:spPr>
          <a:xfrm flipH="1" flipV="1">
            <a:off x="2538404" y="4981697"/>
            <a:ext cx="2418256" cy="3641"/>
          </a:xfrm>
          <a:prstGeom prst="straightConnector1">
            <a:avLst/>
          </a:prstGeom>
          <a:ln w="63500" cmpd="dbl"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03"/>
          <p:cNvCxnSpPr/>
          <p:nvPr/>
        </p:nvCxnSpPr>
        <p:spPr>
          <a:xfrm flipH="1">
            <a:off x="7343377" y="4475986"/>
            <a:ext cx="2713239" cy="7660"/>
          </a:xfrm>
          <a:prstGeom prst="straightConnector1">
            <a:avLst/>
          </a:prstGeom>
          <a:ln w="63500" cmpd="dbl"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03"/>
          <p:cNvCxnSpPr/>
          <p:nvPr/>
        </p:nvCxnSpPr>
        <p:spPr>
          <a:xfrm>
            <a:off x="7343377" y="4981697"/>
            <a:ext cx="2740624" cy="0"/>
          </a:xfrm>
          <a:prstGeom prst="straightConnector1">
            <a:avLst/>
          </a:prstGeom>
          <a:ln w="63500" cmpd="dbl"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69"/>
          <p:cNvCxnSpPr/>
          <p:nvPr/>
        </p:nvCxnSpPr>
        <p:spPr>
          <a:xfrm>
            <a:off x="1133854" y="-165392"/>
            <a:ext cx="27751" cy="884791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Snip Single Corner Rectangle 6"/>
          <p:cNvSpPr/>
          <p:nvPr/>
        </p:nvSpPr>
        <p:spPr>
          <a:xfrm>
            <a:off x="957128" y="719399"/>
            <a:ext cx="433304" cy="595907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98" name="Group 31"/>
          <p:cNvGrpSpPr/>
          <p:nvPr/>
        </p:nvGrpSpPr>
        <p:grpSpPr>
          <a:xfrm>
            <a:off x="682938" y="551561"/>
            <a:ext cx="484156" cy="526609"/>
            <a:chOff x="6257635" y="827263"/>
            <a:chExt cx="2516909" cy="2898229"/>
          </a:xfrm>
        </p:grpSpPr>
        <p:sp>
          <p:nvSpPr>
            <p:cNvPr id="199" name="Oval 30"/>
            <p:cNvSpPr/>
            <p:nvPr/>
          </p:nvSpPr>
          <p:spPr>
            <a:xfrm>
              <a:off x="6366165" y="827263"/>
              <a:ext cx="2304473" cy="2370831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grpSp>
          <p:nvGrpSpPr>
            <p:cNvPr id="200" name="Group 4"/>
            <p:cNvGrpSpPr/>
            <p:nvPr/>
          </p:nvGrpSpPr>
          <p:grpSpPr>
            <a:xfrm>
              <a:off x="6502099" y="915161"/>
              <a:ext cx="2043964" cy="2185649"/>
              <a:chOff x="4114800" y="2590800"/>
              <a:chExt cx="1524000" cy="1535668"/>
            </a:xfrm>
          </p:grpSpPr>
          <p:sp>
            <p:nvSpPr>
              <p:cNvPr id="202" name="Oval 26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3" name="Straight Connector 27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8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9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1" name="Chord 25"/>
            <p:cNvSpPr/>
            <p:nvPr/>
          </p:nvSpPr>
          <p:spPr>
            <a:xfrm>
              <a:off x="6257635" y="838200"/>
              <a:ext cx="2516909" cy="288729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</p:grpSp>
      <p:sp>
        <p:nvSpPr>
          <p:cNvPr id="206" name="TextBox 11"/>
          <p:cNvSpPr txBox="1"/>
          <p:nvPr/>
        </p:nvSpPr>
        <p:spPr>
          <a:xfrm>
            <a:off x="1442920" y="822082"/>
            <a:ext cx="11068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 smtClean="0"/>
              <a:t>Smart Life of </a:t>
            </a:r>
            <a:r>
              <a:rPr lang="it-IT" sz="1100" dirty="0" err="1" smtClean="0"/>
              <a:t>category</a:t>
            </a:r>
            <a:r>
              <a:rPr lang="it-IT" sz="1100" dirty="0" smtClean="0"/>
              <a:t> x</a:t>
            </a:r>
            <a:endParaRPr lang="it-IT" sz="1100" dirty="0"/>
          </a:p>
        </p:txBody>
      </p:sp>
      <p:sp>
        <p:nvSpPr>
          <p:cNvPr id="207" name="Snip Single Corner Rectangle 57"/>
          <p:cNvSpPr/>
          <p:nvPr/>
        </p:nvSpPr>
        <p:spPr>
          <a:xfrm>
            <a:off x="6321291" y="918996"/>
            <a:ext cx="476150" cy="642504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08" name="Straight Arrow Connector 69"/>
          <p:cNvCxnSpPr/>
          <p:nvPr/>
        </p:nvCxnSpPr>
        <p:spPr>
          <a:xfrm>
            <a:off x="6321291" y="21608"/>
            <a:ext cx="247483" cy="777933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TextBox 11"/>
          <p:cNvSpPr txBox="1"/>
          <p:nvPr/>
        </p:nvSpPr>
        <p:spPr>
          <a:xfrm>
            <a:off x="6766109" y="1014602"/>
            <a:ext cx="8619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 err="1" smtClean="0"/>
              <a:t>Devices</a:t>
            </a:r>
            <a:r>
              <a:rPr lang="it-IT" sz="1100" dirty="0" smtClean="0"/>
              <a:t> of </a:t>
            </a:r>
            <a:r>
              <a:rPr lang="it-IT" sz="1100" dirty="0" err="1" smtClean="0"/>
              <a:t>category</a:t>
            </a:r>
            <a:r>
              <a:rPr lang="it-IT" sz="1100" dirty="0" smtClean="0"/>
              <a:t> X</a:t>
            </a:r>
            <a:endParaRPr lang="it-IT" sz="1100" dirty="0"/>
          </a:p>
        </p:txBody>
      </p:sp>
      <p:cxnSp>
        <p:nvCxnSpPr>
          <p:cNvPr id="210" name="Straight Arrow Connector 69"/>
          <p:cNvCxnSpPr>
            <a:stCxn id="207" idx="1"/>
          </p:cNvCxnSpPr>
          <p:nvPr/>
        </p:nvCxnSpPr>
        <p:spPr>
          <a:xfrm flipH="1">
            <a:off x="6467311" y="1561500"/>
            <a:ext cx="92055" cy="1237532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1" name="Group 31"/>
          <p:cNvGrpSpPr/>
          <p:nvPr/>
        </p:nvGrpSpPr>
        <p:grpSpPr>
          <a:xfrm>
            <a:off x="6014535" y="780678"/>
            <a:ext cx="481515" cy="526609"/>
            <a:chOff x="6257635" y="827263"/>
            <a:chExt cx="2516909" cy="2898229"/>
          </a:xfrm>
        </p:grpSpPr>
        <p:sp>
          <p:nvSpPr>
            <p:cNvPr id="212" name="Oval 30"/>
            <p:cNvSpPr/>
            <p:nvPr/>
          </p:nvSpPr>
          <p:spPr>
            <a:xfrm>
              <a:off x="6366165" y="827263"/>
              <a:ext cx="2304473" cy="2370831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grpSp>
          <p:nvGrpSpPr>
            <p:cNvPr id="213" name="Group 4"/>
            <p:cNvGrpSpPr/>
            <p:nvPr/>
          </p:nvGrpSpPr>
          <p:grpSpPr>
            <a:xfrm>
              <a:off x="6502099" y="915161"/>
              <a:ext cx="2043964" cy="2185649"/>
              <a:chOff x="4114800" y="2590800"/>
              <a:chExt cx="1524000" cy="1535668"/>
            </a:xfrm>
          </p:grpSpPr>
          <p:sp>
            <p:nvSpPr>
              <p:cNvPr id="215" name="Oval 26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16" name="Straight Connector 27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8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9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4" name="Chord 25"/>
            <p:cNvSpPr/>
            <p:nvPr/>
          </p:nvSpPr>
          <p:spPr>
            <a:xfrm>
              <a:off x="6257635" y="838200"/>
              <a:ext cx="2516909" cy="288729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</p:grpSp>
      <p:sp>
        <p:nvSpPr>
          <p:cNvPr id="221" name="Snip Single Corner Rectangle 6"/>
          <p:cNvSpPr/>
          <p:nvPr/>
        </p:nvSpPr>
        <p:spPr>
          <a:xfrm>
            <a:off x="9906529" y="1997824"/>
            <a:ext cx="430940" cy="595907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23" name="Straight Arrow Connector 69"/>
          <p:cNvCxnSpPr/>
          <p:nvPr/>
        </p:nvCxnSpPr>
        <p:spPr>
          <a:xfrm>
            <a:off x="10119587" y="2593534"/>
            <a:ext cx="492605" cy="1396989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4" name="Group 31"/>
          <p:cNvGrpSpPr/>
          <p:nvPr/>
        </p:nvGrpSpPr>
        <p:grpSpPr>
          <a:xfrm>
            <a:off x="9634802" y="1856074"/>
            <a:ext cx="481515" cy="526609"/>
            <a:chOff x="6257635" y="827263"/>
            <a:chExt cx="2516909" cy="2898229"/>
          </a:xfrm>
        </p:grpSpPr>
        <p:sp>
          <p:nvSpPr>
            <p:cNvPr id="225" name="Oval 30"/>
            <p:cNvSpPr/>
            <p:nvPr/>
          </p:nvSpPr>
          <p:spPr>
            <a:xfrm>
              <a:off x="6366165" y="827263"/>
              <a:ext cx="2304473" cy="2370831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grpSp>
          <p:nvGrpSpPr>
            <p:cNvPr id="226" name="Group 4"/>
            <p:cNvGrpSpPr/>
            <p:nvPr/>
          </p:nvGrpSpPr>
          <p:grpSpPr>
            <a:xfrm>
              <a:off x="6502099" y="915161"/>
              <a:ext cx="2043964" cy="2185649"/>
              <a:chOff x="4114800" y="2590800"/>
              <a:chExt cx="1524000" cy="1535668"/>
            </a:xfrm>
          </p:grpSpPr>
          <p:sp>
            <p:nvSpPr>
              <p:cNvPr id="228" name="Oval 26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9" name="Straight Connector 27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8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9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7" name="Chord 25"/>
            <p:cNvSpPr/>
            <p:nvPr/>
          </p:nvSpPr>
          <p:spPr>
            <a:xfrm>
              <a:off x="6257635" y="838200"/>
              <a:ext cx="2516909" cy="288729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</p:grpSp>
      <p:sp>
        <p:nvSpPr>
          <p:cNvPr id="232" name="TextBox 11"/>
          <p:cNvSpPr txBox="1"/>
          <p:nvPr/>
        </p:nvSpPr>
        <p:spPr>
          <a:xfrm>
            <a:off x="9511956" y="2617892"/>
            <a:ext cx="12563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 smtClean="0"/>
              <a:t>Assistance service of </a:t>
            </a:r>
            <a:r>
              <a:rPr lang="it-IT" sz="1100" dirty="0" err="1" smtClean="0"/>
              <a:t>category</a:t>
            </a:r>
            <a:r>
              <a:rPr lang="it-IT" sz="1100" dirty="0" smtClean="0"/>
              <a:t> x</a:t>
            </a:r>
            <a:endParaRPr lang="it-IT" sz="1100" dirty="0"/>
          </a:p>
        </p:txBody>
      </p:sp>
      <p:sp>
        <p:nvSpPr>
          <p:cNvPr id="233" name="Snip Single Corner Rectangle 6"/>
          <p:cNvSpPr/>
          <p:nvPr/>
        </p:nvSpPr>
        <p:spPr>
          <a:xfrm>
            <a:off x="11720233" y="2008591"/>
            <a:ext cx="430940" cy="595907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34" name="Straight Arrow Connector 69"/>
          <p:cNvCxnSpPr/>
          <p:nvPr/>
        </p:nvCxnSpPr>
        <p:spPr>
          <a:xfrm flipH="1">
            <a:off x="11406593" y="2604301"/>
            <a:ext cx="526699" cy="1386222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69"/>
          <p:cNvCxnSpPr/>
          <p:nvPr/>
        </p:nvCxnSpPr>
        <p:spPr>
          <a:xfrm>
            <a:off x="10612192" y="72552"/>
            <a:ext cx="961139" cy="1876038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4" name="Group 143"/>
          <p:cNvGrpSpPr/>
          <p:nvPr/>
        </p:nvGrpSpPr>
        <p:grpSpPr>
          <a:xfrm>
            <a:off x="11466494" y="1891715"/>
            <a:ext cx="486436" cy="541930"/>
            <a:chOff x="4318000" y="2493818"/>
            <a:chExt cx="2921000" cy="3297382"/>
          </a:xfrm>
        </p:grpSpPr>
        <p:grpSp>
          <p:nvGrpSpPr>
            <p:cNvPr id="245" name="Group 35"/>
            <p:cNvGrpSpPr/>
            <p:nvPr/>
          </p:nvGrpSpPr>
          <p:grpSpPr>
            <a:xfrm>
              <a:off x="4450379" y="2515092"/>
              <a:ext cx="2671089" cy="2496083"/>
              <a:chOff x="4114800" y="2590800"/>
              <a:chExt cx="1524000" cy="1535668"/>
            </a:xfrm>
          </p:grpSpPr>
          <p:sp>
            <p:nvSpPr>
              <p:cNvPr id="247" name="Oval 163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248" name="Straight Connector 164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169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170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6" name="Chord 162"/>
            <p:cNvSpPr/>
            <p:nvPr/>
          </p:nvSpPr>
          <p:spPr>
            <a:xfrm>
              <a:off x="4318000" y="2493818"/>
              <a:ext cx="2921000" cy="329738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51" name="TextBox 11"/>
          <p:cNvSpPr txBox="1"/>
          <p:nvPr/>
        </p:nvSpPr>
        <p:spPr>
          <a:xfrm>
            <a:off x="10846199" y="2642203"/>
            <a:ext cx="12563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 err="1" smtClean="0"/>
              <a:t>Highlights</a:t>
            </a:r>
            <a:endParaRPr lang="it-IT" sz="1100" dirty="0"/>
          </a:p>
        </p:txBody>
      </p:sp>
      <p:sp>
        <p:nvSpPr>
          <p:cNvPr id="45" name="Triangolo rettangolo 44"/>
          <p:cNvSpPr/>
          <p:nvPr/>
        </p:nvSpPr>
        <p:spPr>
          <a:xfrm rot="16200000">
            <a:off x="2054316" y="5796010"/>
            <a:ext cx="340958" cy="323213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2" name="Snip Single Corner Rectangle 57"/>
          <p:cNvSpPr/>
          <p:nvPr/>
        </p:nvSpPr>
        <p:spPr>
          <a:xfrm>
            <a:off x="4911260" y="940867"/>
            <a:ext cx="476150" cy="642504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53" name="Straight Arrow Connector 69"/>
          <p:cNvCxnSpPr/>
          <p:nvPr/>
        </p:nvCxnSpPr>
        <p:spPr>
          <a:xfrm flipH="1">
            <a:off x="5099204" y="0"/>
            <a:ext cx="228667" cy="821655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TextBox 11"/>
          <p:cNvSpPr txBox="1"/>
          <p:nvPr/>
        </p:nvSpPr>
        <p:spPr>
          <a:xfrm>
            <a:off x="5296539" y="1036716"/>
            <a:ext cx="861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 smtClean="0"/>
              <a:t>Outlet</a:t>
            </a:r>
            <a:endParaRPr lang="it-IT" sz="1100" dirty="0"/>
          </a:p>
        </p:txBody>
      </p:sp>
      <p:grpSp>
        <p:nvGrpSpPr>
          <p:cNvPr id="263" name="Group 143"/>
          <p:cNvGrpSpPr/>
          <p:nvPr/>
        </p:nvGrpSpPr>
        <p:grpSpPr>
          <a:xfrm>
            <a:off x="4667107" y="754969"/>
            <a:ext cx="486436" cy="541930"/>
            <a:chOff x="4318000" y="2493818"/>
            <a:chExt cx="2921000" cy="3297382"/>
          </a:xfrm>
        </p:grpSpPr>
        <p:grpSp>
          <p:nvGrpSpPr>
            <p:cNvPr id="264" name="Group 35"/>
            <p:cNvGrpSpPr/>
            <p:nvPr/>
          </p:nvGrpSpPr>
          <p:grpSpPr>
            <a:xfrm>
              <a:off x="4450379" y="2515092"/>
              <a:ext cx="2671089" cy="2496083"/>
              <a:chOff x="4114800" y="2590800"/>
              <a:chExt cx="1524000" cy="1535668"/>
            </a:xfrm>
          </p:grpSpPr>
          <p:sp>
            <p:nvSpPr>
              <p:cNvPr id="266" name="Oval 163"/>
              <p:cNvSpPr/>
              <p:nvPr/>
            </p:nvSpPr>
            <p:spPr>
              <a:xfrm>
                <a:off x="4114800" y="2590800"/>
                <a:ext cx="1524000" cy="1535668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267" name="Straight Connector 164"/>
              <p:cNvCxnSpPr/>
              <p:nvPr/>
            </p:nvCxnSpPr>
            <p:spPr>
              <a:xfrm>
                <a:off x="4419600" y="3340587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169"/>
              <p:cNvCxnSpPr/>
              <p:nvPr/>
            </p:nvCxnSpPr>
            <p:spPr>
              <a:xfrm>
                <a:off x="4419600" y="3573402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170"/>
              <p:cNvCxnSpPr/>
              <p:nvPr/>
            </p:nvCxnSpPr>
            <p:spPr>
              <a:xfrm>
                <a:off x="4419600" y="3807805"/>
                <a:ext cx="914400" cy="15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5" name="Chord 162"/>
            <p:cNvSpPr/>
            <p:nvPr/>
          </p:nvSpPr>
          <p:spPr>
            <a:xfrm>
              <a:off x="4318000" y="2493818"/>
              <a:ext cx="2921000" cy="3297382"/>
            </a:xfrm>
            <a:prstGeom prst="chord">
              <a:avLst>
                <a:gd name="adj1" fmla="val 13350572"/>
                <a:gd name="adj2" fmla="val 19019338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270" name="Straight Arrow Connector 69"/>
          <p:cNvCxnSpPr>
            <a:stCxn id="252" idx="1"/>
          </p:cNvCxnSpPr>
          <p:nvPr/>
        </p:nvCxnSpPr>
        <p:spPr>
          <a:xfrm>
            <a:off x="5149335" y="1583371"/>
            <a:ext cx="95527" cy="1227893"/>
          </a:xfrm>
          <a:prstGeom prst="straightConnector1">
            <a:avLst/>
          </a:prstGeom>
          <a:ln w="38100" cmpd="dbl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Triangolo rettangolo 270"/>
          <p:cNvSpPr/>
          <p:nvPr/>
        </p:nvSpPr>
        <p:spPr>
          <a:xfrm rot="16200000">
            <a:off x="6922020" y="5708848"/>
            <a:ext cx="340958" cy="323213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3" name="Triangolo rettangolo 272"/>
          <p:cNvSpPr/>
          <p:nvPr/>
        </p:nvSpPr>
        <p:spPr>
          <a:xfrm rot="16200000" flipV="1">
            <a:off x="5068919" y="5716888"/>
            <a:ext cx="288319" cy="333617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4" name="TextBox 78"/>
          <p:cNvSpPr txBox="1"/>
          <p:nvPr/>
        </p:nvSpPr>
        <p:spPr>
          <a:xfrm>
            <a:off x="2916856" y="4215369"/>
            <a:ext cx="1646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err="1"/>
              <a:t>Available</a:t>
            </a:r>
            <a:r>
              <a:rPr lang="it-IT" sz="1100" dirty="0"/>
              <a:t> SL service [1,5]</a:t>
            </a:r>
            <a:endParaRPr lang="it-IT" sz="1100" u="sng" dirty="0"/>
          </a:p>
        </p:txBody>
      </p:sp>
      <p:sp>
        <p:nvSpPr>
          <p:cNvPr id="276" name="TextBox 78"/>
          <p:cNvSpPr txBox="1"/>
          <p:nvPr/>
        </p:nvSpPr>
        <p:spPr>
          <a:xfrm>
            <a:off x="2777309" y="5023379"/>
            <a:ext cx="18895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 err="1" smtClean="0"/>
              <a:t>Available</a:t>
            </a:r>
            <a:r>
              <a:rPr lang="it-IT" sz="1100" dirty="0" smtClean="0"/>
              <a:t> for </a:t>
            </a:r>
            <a:r>
              <a:rPr lang="it-IT" sz="1100" dirty="0" err="1" smtClean="0"/>
              <a:t>device</a:t>
            </a:r>
            <a:r>
              <a:rPr lang="it-IT" sz="1100" dirty="0" smtClean="0"/>
              <a:t>(s) [1,30]</a:t>
            </a:r>
            <a:endParaRPr lang="it-IT" sz="1100" dirty="0"/>
          </a:p>
        </p:txBody>
      </p:sp>
      <p:sp>
        <p:nvSpPr>
          <p:cNvPr id="277" name="Triangolo rettangolo 276"/>
          <p:cNvSpPr/>
          <p:nvPr/>
        </p:nvSpPr>
        <p:spPr>
          <a:xfrm rot="16200000" flipV="1">
            <a:off x="10475634" y="4889437"/>
            <a:ext cx="309570" cy="247128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8" name="TextBox 78"/>
          <p:cNvSpPr txBox="1"/>
          <p:nvPr/>
        </p:nvSpPr>
        <p:spPr>
          <a:xfrm>
            <a:off x="7977122" y="4205694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smtClean="0"/>
              <a:t>Assistance for[1,10]</a:t>
            </a:r>
            <a:endParaRPr lang="it-IT" sz="1100" u="sng" dirty="0"/>
          </a:p>
        </p:txBody>
      </p:sp>
      <p:sp>
        <p:nvSpPr>
          <p:cNvPr id="279" name="TextBox 78"/>
          <p:cNvSpPr txBox="1"/>
          <p:nvPr/>
        </p:nvSpPr>
        <p:spPr>
          <a:xfrm>
            <a:off x="7765621" y="5041364"/>
            <a:ext cx="18181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 err="1"/>
              <a:t>Available</a:t>
            </a:r>
            <a:r>
              <a:rPr lang="it-IT" sz="1100" dirty="0"/>
              <a:t> </a:t>
            </a:r>
            <a:r>
              <a:rPr lang="it-IT" sz="1100" dirty="0" smtClean="0"/>
              <a:t>for </a:t>
            </a:r>
            <a:r>
              <a:rPr lang="it-IT" sz="1100" dirty="0" err="1" smtClean="0"/>
              <a:t>device</a:t>
            </a:r>
            <a:r>
              <a:rPr lang="it-IT" sz="1100" dirty="0" smtClean="0"/>
              <a:t>(s) [1,10]</a:t>
            </a:r>
            <a:endParaRPr lang="it-IT" sz="1100" u="sng" dirty="0"/>
          </a:p>
        </p:txBody>
      </p:sp>
      <p:sp>
        <p:nvSpPr>
          <p:cNvPr id="96" name="CasellaDiTesto 95"/>
          <p:cNvSpPr txBox="1"/>
          <p:nvPr/>
        </p:nvSpPr>
        <p:spPr>
          <a:xfrm>
            <a:off x="5615177" y="3800719"/>
            <a:ext cx="9430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100" dirty="0" err="1"/>
              <a:t>Description</a:t>
            </a:r>
            <a:r>
              <a:rPr lang="it-IT" sz="1100" dirty="0"/>
              <a:t> </a:t>
            </a:r>
            <a:endParaRPr lang="it-IT" sz="1100" dirty="0" smtClean="0"/>
          </a:p>
          <a:p>
            <a:endParaRPr lang="it-IT" sz="1100" dirty="0"/>
          </a:p>
        </p:txBody>
      </p:sp>
      <p:sp>
        <p:nvSpPr>
          <p:cNvPr id="99" name="CasellaDiTesto 98"/>
          <p:cNvSpPr txBox="1"/>
          <p:nvPr/>
        </p:nvSpPr>
        <p:spPr>
          <a:xfrm>
            <a:off x="724965" y="3356783"/>
            <a:ext cx="1003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dirty="0" err="1" smtClean="0"/>
              <a:t>Description</a:t>
            </a:r>
            <a:endParaRPr lang="it-IT" sz="1100" dirty="0" smtClean="0"/>
          </a:p>
          <a:p>
            <a:endParaRPr lang="it-IT" sz="1100" dirty="0"/>
          </a:p>
        </p:txBody>
      </p:sp>
      <p:sp>
        <p:nvSpPr>
          <p:cNvPr id="288" name="TextBox 200"/>
          <p:cNvSpPr txBox="1"/>
          <p:nvPr/>
        </p:nvSpPr>
        <p:spPr>
          <a:xfrm>
            <a:off x="207591" y="5864591"/>
            <a:ext cx="79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I+GT </a:t>
            </a:r>
            <a:endParaRPr lang="en-US" sz="1400" dirty="0"/>
          </a:p>
        </p:txBody>
      </p:sp>
      <p:sp>
        <p:nvSpPr>
          <p:cNvPr id="289" name="TextBox 200"/>
          <p:cNvSpPr txBox="1"/>
          <p:nvPr/>
        </p:nvSpPr>
        <p:spPr>
          <a:xfrm>
            <a:off x="553512" y="2165513"/>
            <a:ext cx="79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I+GT </a:t>
            </a:r>
            <a:endParaRPr lang="en-US" sz="1400" dirty="0"/>
          </a:p>
        </p:txBody>
      </p:sp>
      <p:sp>
        <p:nvSpPr>
          <p:cNvPr id="290" name="TextBox 200"/>
          <p:cNvSpPr txBox="1"/>
          <p:nvPr/>
        </p:nvSpPr>
        <p:spPr>
          <a:xfrm>
            <a:off x="4628883" y="2043408"/>
            <a:ext cx="79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I+GT </a:t>
            </a:r>
            <a:endParaRPr lang="en-US" sz="1400" dirty="0"/>
          </a:p>
        </p:txBody>
      </p:sp>
      <p:sp>
        <p:nvSpPr>
          <p:cNvPr id="291" name="TextBox 200"/>
          <p:cNvSpPr txBox="1"/>
          <p:nvPr/>
        </p:nvSpPr>
        <p:spPr>
          <a:xfrm>
            <a:off x="5987128" y="2192168"/>
            <a:ext cx="79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I+GT </a:t>
            </a:r>
            <a:endParaRPr lang="en-US" sz="1400" dirty="0"/>
          </a:p>
        </p:txBody>
      </p:sp>
      <p:sp>
        <p:nvSpPr>
          <p:cNvPr id="292" name="TextBox 200"/>
          <p:cNvSpPr txBox="1"/>
          <p:nvPr/>
        </p:nvSpPr>
        <p:spPr>
          <a:xfrm>
            <a:off x="9402945" y="1395664"/>
            <a:ext cx="79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I+GT </a:t>
            </a:r>
            <a:endParaRPr lang="en-US" sz="1400" dirty="0"/>
          </a:p>
        </p:txBody>
      </p:sp>
      <p:sp>
        <p:nvSpPr>
          <p:cNvPr id="293" name="TextBox 200"/>
          <p:cNvSpPr txBox="1"/>
          <p:nvPr/>
        </p:nvSpPr>
        <p:spPr>
          <a:xfrm>
            <a:off x="10777308" y="1498610"/>
            <a:ext cx="79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I+GT </a:t>
            </a:r>
            <a:endParaRPr lang="en-US" sz="1400" dirty="0"/>
          </a:p>
        </p:txBody>
      </p:sp>
      <p:sp>
        <p:nvSpPr>
          <p:cNvPr id="294" name="TextBox 200"/>
          <p:cNvSpPr txBox="1"/>
          <p:nvPr/>
        </p:nvSpPr>
        <p:spPr>
          <a:xfrm>
            <a:off x="9875559" y="3661281"/>
            <a:ext cx="79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I+GT </a:t>
            </a:r>
            <a:endParaRPr lang="en-US" sz="1400" dirty="0"/>
          </a:p>
        </p:txBody>
      </p:sp>
      <p:sp>
        <p:nvSpPr>
          <p:cNvPr id="295" name="TextBox 200"/>
          <p:cNvSpPr txBox="1"/>
          <p:nvPr/>
        </p:nvSpPr>
        <p:spPr>
          <a:xfrm>
            <a:off x="10945006" y="3480736"/>
            <a:ext cx="79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smtClean="0"/>
              <a:t>I+GT </a:t>
            </a:r>
            <a:endParaRPr lang="en-US" sz="1400" dirty="0"/>
          </a:p>
        </p:txBody>
      </p:sp>
      <p:sp>
        <p:nvSpPr>
          <p:cNvPr id="131" name="Snip Single Corner Rectangle 73"/>
          <p:cNvSpPr/>
          <p:nvPr/>
        </p:nvSpPr>
        <p:spPr>
          <a:xfrm>
            <a:off x="5570483" y="4753238"/>
            <a:ext cx="1072055" cy="1090514"/>
          </a:xfrm>
          <a:prstGeom prst="snip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1100" dirty="0"/>
          </a:p>
        </p:txBody>
      </p:sp>
      <p:sp>
        <p:nvSpPr>
          <p:cNvPr id="133" name="CasellaDiTesto 132"/>
          <p:cNvSpPr txBox="1"/>
          <p:nvPr/>
        </p:nvSpPr>
        <p:spPr>
          <a:xfrm>
            <a:off x="5567881" y="4983132"/>
            <a:ext cx="101194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100" dirty="0" err="1" smtClean="0"/>
              <a:t>Technical</a:t>
            </a:r>
            <a:r>
              <a:rPr lang="it-IT" sz="1100" dirty="0" smtClean="0"/>
              <a:t> </a:t>
            </a:r>
          </a:p>
          <a:p>
            <a:pPr algn="ctr"/>
            <a:r>
              <a:rPr lang="it-IT" sz="1100" dirty="0" err="1" smtClean="0"/>
              <a:t>characteristics</a:t>
            </a:r>
            <a:endParaRPr lang="it-IT" sz="1100" dirty="0"/>
          </a:p>
          <a:p>
            <a:endParaRPr lang="it-IT" sz="1100" dirty="0"/>
          </a:p>
        </p:txBody>
      </p:sp>
      <p:sp>
        <p:nvSpPr>
          <p:cNvPr id="143" name="CasellaDiTesto 142"/>
          <p:cNvSpPr txBox="1"/>
          <p:nvPr/>
        </p:nvSpPr>
        <p:spPr>
          <a:xfrm>
            <a:off x="751241" y="4339500"/>
            <a:ext cx="1014497" cy="610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100" dirty="0" err="1" smtClean="0"/>
              <a:t>Activation</a:t>
            </a:r>
            <a:r>
              <a:rPr lang="it-IT" sz="1100" dirty="0" smtClean="0"/>
              <a:t> </a:t>
            </a:r>
            <a:r>
              <a:rPr lang="it-IT" sz="1100" dirty="0"/>
              <a:t>and </a:t>
            </a:r>
            <a:r>
              <a:rPr lang="it-IT" sz="1100" dirty="0" err="1"/>
              <a:t>rules</a:t>
            </a:r>
            <a:endParaRPr lang="it-IT" sz="1100" dirty="0"/>
          </a:p>
          <a:p>
            <a:endParaRPr lang="it-IT" sz="1100" dirty="0"/>
          </a:p>
        </p:txBody>
      </p:sp>
      <p:sp>
        <p:nvSpPr>
          <p:cNvPr id="148" name="TextBox 50"/>
          <p:cNvSpPr txBox="1"/>
          <p:nvPr/>
        </p:nvSpPr>
        <p:spPr>
          <a:xfrm>
            <a:off x="5083654" y="3054848"/>
            <a:ext cx="113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A2A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5492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3460</TotalTime>
  <Words>314</Words>
  <Application>Microsoft Office PowerPoint</Application>
  <PresentationFormat>Personalizzato</PresentationFormat>
  <Paragraphs>124</Paragraphs>
  <Slides>5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TIM Project</vt:lpstr>
      <vt:lpstr>Diapositiva 2</vt:lpstr>
      <vt:lpstr>Diapositiva 3</vt:lpstr>
      <vt:lpstr>Diapositiva 4</vt:lpstr>
      <vt:lpstr>Diapositiva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Erica Stella</dc:creator>
  <cp:lastModifiedBy>privato</cp:lastModifiedBy>
  <cp:revision>219</cp:revision>
  <dcterms:created xsi:type="dcterms:W3CDTF">2015-04-23T19:17:10Z</dcterms:created>
  <dcterms:modified xsi:type="dcterms:W3CDTF">2016-06-30T18:01:58Z</dcterms:modified>
</cp:coreProperties>
</file>